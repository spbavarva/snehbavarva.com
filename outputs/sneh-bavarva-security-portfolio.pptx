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202b81d074489" /><Relationship Type="http://schemas.openxmlformats.org/officeDocument/2006/relationships/extended-properties" Target="/docProps/app.xml" Id="Rbc6de5d6cbeb406e" /><Relationship Type="http://schemas.openxmlformats.org/officeDocument/2006/relationships/officeDocument" Target="/ppt/presentation.xml" Id="Rb3e0cea91dda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e4a55604644c43"/>
  </p:sldMasterIdLst>
  <p:notesMasterIdLst>
    <p:notesMasterId xmlns:r="http://schemas.openxmlformats.org/officeDocument/2006/relationships" r:id="Rc847086571484cdb"/>
  </p:notesMasterIdLst>
  <p:sldIdLst>
    <p:sldId xmlns:r="http://schemas.openxmlformats.org/officeDocument/2006/relationships" id="256" r:id="Rb8592ed1f4464d27"/>
    <p:sldId xmlns:r="http://schemas.openxmlformats.org/officeDocument/2006/relationships" id="257" r:id="Rf1eb0e4500f142ce"/>
    <p:sldId xmlns:r="http://schemas.openxmlformats.org/officeDocument/2006/relationships" id="258" r:id="Rb01ea7700ba04124"/>
    <p:sldId xmlns:r="http://schemas.openxmlformats.org/officeDocument/2006/relationships" id="259" r:id="R9b2ac5680f904d1e"/>
    <p:sldId xmlns:r="http://schemas.openxmlformats.org/officeDocument/2006/relationships" id="260" r:id="R9827d79a684143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53b2d0eb74691" /><Relationship Type="http://schemas.openxmlformats.org/officeDocument/2006/relationships/slideMaster" Target="/ppt/slideMasters/slideMaster1.xml" Id="R3de4a55604644c43" /><Relationship Type="http://schemas.openxmlformats.org/officeDocument/2006/relationships/notesMaster" Target="/ppt/notesMasters/notesMaster1.xml" Id="Rc847086571484cdb" /><Relationship Type="http://schemas.openxmlformats.org/officeDocument/2006/relationships/presProps" Target="/ppt/presProps.xml" Id="R3c02520980eb46fe" /><Relationship Type="http://schemas.openxmlformats.org/officeDocument/2006/relationships/tableStyles" Target="/ppt/tableStyles.xml" Id="Rb1aa553bfd724e85" /><Relationship Type="http://schemas.openxmlformats.org/officeDocument/2006/relationships/slide" Target="/ppt/slides/slide1.xml" Id="Rb8592ed1f4464d27" /><Relationship Type="http://schemas.openxmlformats.org/officeDocument/2006/relationships/slide" Target="/ppt/slides/slide2.xml" Id="Rf1eb0e4500f142ce" /><Relationship Type="http://schemas.openxmlformats.org/officeDocument/2006/relationships/slide" Target="/ppt/slides/slide3.xml" Id="Rb01ea7700ba04124" /><Relationship Type="http://schemas.openxmlformats.org/officeDocument/2006/relationships/slide" Target="/ppt/slides/slide4.xml" Id="R9b2ac5680f904d1e" /><Relationship Type="http://schemas.openxmlformats.org/officeDocument/2006/relationships/slide" Target="/ppt/slides/slide5.xml" Id="R9827d79a6841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940f0f7ba646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09c68f96dc4919" /><Relationship Type="http://schemas.openxmlformats.org/officeDocument/2006/relationships/notesMaster" Target="/ppt/notesMasters/notesMaster1.xml" Id="Rfb244bcedef44d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4e1aa15a145ae" /><Relationship Type="http://schemas.openxmlformats.org/officeDocument/2006/relationships/notesMaster" Target="/ppt/notesMasters/notesMaster1.xml" Id="Rfcff549bea7f47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b0dcc56c49481e" /><Relationship Type="http://schemas.openxmlformats.org/officeDocument/2006/relationships/notesMaster" Target="/ppt/notesMasters/notesMaster1.xml" Id="R0692b30feadd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018473bf7a4c0c" /><Relationship Type="http://schemas.openxmlformats.org/officeDocument/2006/relationships/notesMaster" Target="/ppt/notesMasters/notesMaster1.xml" Id="Ra85eba7447a241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de7cf01a14efb" /><Relationship Type="http://schemas.openxmlformats.org/officeDocument/2006/relationships/notesMaster" Target="/ppt/notesMasters/notesMaster1.xml" Id="Rb5d46d71277d45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4bb8bf05745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e98f6d3e2d4bd4" /><Relationship Type="http://schemas.openxmlformats.org/officeDocument/2006/relationships/slideLayout" Target="/ppt/slideLayouts/slideLayout1.xml" Id="R8c076d9d721146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76d9d721146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ac9cc347545f5" /><Relationship Type="http://schemas.openxmlformats.org/officeDocument/2006/relationships/notesSlide" Target="/ppt/notesSlides/notesSlide1.xml" Id="R09dfd2ec76e3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d13acd48a4b30" /><Relationship Type="http://schemas.openxmlformats.org/officeDocument/2006/relationships/notesSlide" Target="/ppt/notesSlides/notesSlide2.xml" Id="Rcb886554aedb41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91febd7c544d9" /><Relationship Type="http://schemas.openxmlformats.org/officeDocument/2006/relationships/notesSlide" Target="/ppt/notesSlides/notesSlide3.xml" Id="R68e73811c4cf41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fb2e528294902" /><Relationship Type="http://schemas.openxmlformats.org/officeDocument/2006/relationships/notesSlide" Target="/ppt/notesSlides/notesSlide4.xml" Id="Redb7fb864fca43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18093a1aa47d1" /><Relationship Type="http://schemas.openxmlformats.org/officeDocument/2006/relationships/notesSlide" Target="/ppt/notesSlides/notesSlide5.xml" Id="Ref7e716633494f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kicker">
            <a:extLst xmlns:a="http://schemas.openxmlformats.org/drawingml/2006/main">
              <a:ext uri="{FF2B5EF4-FFF2-40B4-BE49-F238E27FC236}">
                <a16:creationId xmlns:a16="http://schemas.microsoft.com/office/drawing/2014/main" id="{0E9A5F8F-8910-4DBB-893C-596631C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SECURITY ENGINEER PORTFOLIO</a:t>
            </a:r>
          </a:p>
        </p:txBody>
      </p:sp>
      <p:sp>
        <p:nvSpPr>
          <p:cNvPr id="2" name="hero-name">
            <a:extLst xmlns:a="http://schemas.openxmlformats.org/drawingml/2006/main">
              <a:ext uri="{FF2B5EF4-FFF2-40B4-BE49-F238E27FC236}">
                <a16:creationId xmlns:a16="http://schemas.microsoft.com/office/drawing/2014/main" id="{F4FC983E-F9EB-45C8-9ED1-A44CBCA0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8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Sneh Bavarva</a:t>
            </a:r>
          </a:p>
        </p:txBody>
      </p:sp>
      <p:sp>
        <p:nvSpPr>
          <p:cNvPr id="3" name="hero-title">
            <a:extLst xmlns:a="http://schemas.openxmlformats.org/drawingml/2006/main">
              <a:ext uri="{FF2B5EF4-FFF2-40B4-BE49-F238E27FC236}">
                <a16:creationId xmlns:a16="http://schemas.microsoft.com/office/drawing/2014/main" id="{211D8273-F28C-4654-B24E-C77A0890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AA9BC"/>
                </a:solidFill>
                <a:latin typeface="Aptos"/>
                <a:ea typeface="Aptos"/>
                <a:cs typeface="Aptos"/>
              </a:rPr>
              <a:t>Security Engineer — AppSec · Cloud Security · Detection &amp; Response</a:t>
            </a:r>
          </a:p>
        </p:txBody>
      </p:sp>
      <p:sp>
        <p:nvSpPr>
          <p:cNvPr id="4" name="hero-education">
            <a:extLst xmlns:a="http://schemas.openxmlformats.org/drawingml/2006/main">
              <a:ext uri="{FF2B5EF4-FFF2-40B4-BE49-F238E27FC236}">
                <a16:creationId xmlns:a16="http://schemas.microsoft.com/office/drawing/2014/main" id="{9B88694E-797C-41D0-9F4A-2BB1242D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AA9BC"/>
                </a:solidFill>
                <a:latin typeface="Aptos"/>
                <a:ea typeface="Aptos"/>
                <a:cs typeface="Aptos"/>
              </a:rPr>
              <a:t>M.S. Cybersecurity, University of Maryland  +  Graduate Certificate, Cloud Engineering</a:t>
            </a:r>
          </a:p>
        </p:txBody>
      </p:sp>
      <p:sp>
        <p:nvSpPr>
          <p:cNvPr id="5" name="hero-accent-rule">
            <a:extLst xmlns:a="http://schemas.openxmlformats.org/drawingml/2006/main">
              <a:ext uri="{FF2B5EF4-FFF2-40B4-BE49-F238E27FC236}">
                <a16:creationId xmlns:a16="http://schemas.microsoft.com/office/drawing/2014/main" id="{C459784B-0BD1-4279-96D4-3222A5F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6" name="cert-chip-0">
            <a:extLst xmlns:a="http://schemas.openxmlformats.org/drawingml/2006/main">
              <a:ext uri="{FF2B5EF4-FFF2-40B4-BE49-F238E27FC236}">
                <a16:creationId xmlns:a16="http://schemas.microsoft.com/office/drawing/2014/main" id="{D7A62BF8-1D83-4DC9-A0CB-23827D84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619125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OSCP</a:t>
            </a:r>
          </a:p>
        </p:txBody>
      </p:sp>
      <p:sp>
        <p:nvSpPr>
          <p:cNvPr id="7" name="cert-chip-1">
            <a:extLst xmlns:a="http://schemas.openxmlformats.org/drawingml/2006/main">
              <a:ext uri="{FF2B5EF4-FFF2-40B4-BE49-F238E27FC236}">
                <a16:creationId xmlns:a16="http://schemas.microsoft.com/office/drawing/2014/main" id="{771E2A15-BFDB-4644-A0C3-B7297CF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5905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CRTO</a:t>
            </a:r>
          </a:p>
        </p:txBody>
      </p:sp>
      <p:sp>
        <p:nvSpPr>
          <p:cNvPr id="8" name="cert-chip-2">
            <a:extLst xmlns:a="http://schemas.openxmlformats.org/drawingml/2006/main">
              <a:ext uri="{FF2B5EF4-FFF2-40B4-BE49-F238E27FC236}">
                <a16:creationId xmlns:a16="http://schemas.microsoft.com/office/drawing/2014/main" id="{7DDC94D2-A1A5-4FA8-8EB5-69280222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5905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BSCP</a:t>
            </a:r>
          </a:p>
        </p:txBody>
      </p:sp>
      <p:sp>
        <p:nvSpPr>
          <p:cNvPr id="9" name="cert-chip-3">
            <a:extLst xmlns:a="http://schemas.openxmlformats.org/drawingml/2006/main">
              <a:ext uri="{FF2B5EF4-FFF2-40B4-BE49-F238E27FC236}">
                <a16:creationId xmlns:a16="http://schemas.microsoft.com/office/drawing/2014/main" id="{048221C8-8AEE-4837-8430-0391D31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5905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GSEC</a:t>
            </a:r>
          </a:p>
        </p:txBody>
      </p:sp>
      <p:sp>
        <p:nvSpPr>
          <p:cNvPr id="10" name="cert-chip-4">
            <a:extLst xmlns:a="http://schemas.openxmlformats.org/drawingml/2006/main">
              <a:ext uri="{FF2B5EF4-FFF2-40B4-BE49-F238E27FC236}">
                <a16:creationId xmlns:a16="http://schemas.microsoft.com/office/drawing/2014/main" id="{CB0FA760-50F0-4806-B368-CC80858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76550"/>
            <a:ext cx="5905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CDSA</a:t>
            </a:r>
          </a:p>
        </p:txBody>
      </p:sp>
      <p:sp>
        <p:nvSpPr>
          <p:cNvPr id="11" name="cert-chip-5">
            <a:extLst xmlns:a="http://schemas.openxmlformats.org/drawingml/2006/main">
              <a:ext uri="{FF2B5EF4-FFF2-40B4-BE49-F238E27FC236}">
                <a16:creationId xmlns:a16="http://schemas.microsoft.com/office/drawing/2014/main" id="{766383A2-2965-418E-BCE5-DB907A7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76550"/>
            <a:ext cx="7620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AWS SAA</a:t>
            </a:r>
          </a:p>
        </p:txBody>
      </p:sp>
      <p:sp>
        <p:nvSpPr>
          <p:cNvPr id="12" name="cert-chip-6">
            <a:extLst xmlns:a="http://schemas.openxmlformats.org/drawingml/2006/main">
              <a:ext uri="{FF2B5EF4-FFF2-40B4-BE49-F238E27FC236}">
                <a16:creationId xmlns:a16="http://schemas.microsoft.com/office/drawing/2014/main" id="{62495246-72F4-484D-920A-136C6F8A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76550"/>
            <a:ext cx="10858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Qualys VMDR</a:t>
            </a:r>
          </a:p>
        </p:txBody>
      </p:sp>
      <p:sp>
        <p:nvSpPr>
          <p:cNvPr id="13" name="cert-chip-7">
            <a:extLst xmlns:a="http://schemas.openxmlformats.org/drawingml/2006/main">
              <a:ext uri="{FF2B5EF4-FFF2-40B4-BE49-F238E27FC236}">
                <a16:creationId xmlns:a16="http://schemas.microsoft.com/office/drawing/2014/main" id="{45F0BB1F-C3AF-49C8-AC5F-5BB3FBC4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5905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CSAM</a:t>
            </a:r>
          </a:p>
        </p:txBody>
      </p:sp>
      <p:sp>
        <p:nvSpPr>
          <p:cNvPr id="14" name="stat-cves-surface">
            <a:extLst xmlns:a="http://schemas.openxmlformats.org/drawingml/2006/main">
              <a:ext uri="{FF2B5EF4-FFF2-40B4-BE49-F238E27FC236}">
                <a16:creationId xmlns:a16="http://schemas.microsoft.com/office/drawing/2014/main" id="{3F38C305-1867-45CB-A878-50AC1BC6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32956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15" name="stat-cves-icon-circle">
            <a:extLst xmlns:a="http://schemas.openxmlformats.org/drawingml/2006/main">
              <a:ext uri="{FF2B5EF4-FFF2-40B4-BE49-F238E27FC236}">
                <a16:creationId xmlns:a16="http://schemas.microsoft.com/office/drawing/2014/main" id="{516B7C76-E142-45C8-ACED-8918CE5E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16" name="stat-cves-icon-glyph">
            <a:extLst xmlns:a="http://schemas.openxmlformats.org/drawingml/2006/main">
              <a:ext uri="{FF2B5EF4-FFF2-40B4-BE49-F238E27FC236}">
                <a16:creationId xmlns:a16="http://schemas.microsoft.com/office/drawing/2014/main" id="{A886CC4D-E832-48B7-A91D-5D20116D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CVE</a:t>
            </a:r>
          </a:p>
        </p:txBody>
      </p:sp>
      <p:sp>
        <p:nvSpPr>
          <p:cNvPr id="17" name="stat-cves-value">
            <a:extLst xmlns:a="http://schemas.openxmlformats.org/drawingml/2006/main">
              <a:ext uri="{FF2B5EF4-FFF2-40B4-BE49-F238E27FC236}">
                <a16:creationId xmlns:a16="http://schemas.microsoft.com/office/drawing/2014/main" id="{16D994CA-F230-4469-8B15-A18BA82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1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11 CVEs</a:t>
            </a:r>
          </a:p>
        </p:txBody>
      </p:sp>
      <p:sp>
        <p:nvSpPr>
          <p:cNvPr id="18" name="stat-cves-label">
            <a:extLst xmlns:a="http://schemas.openxmlformats.org/drawingml/2006/main">
              <a:ext uri="{FF2B5EF4-FFF2-40B4-BE49-F238E27FC236}">
                <a16:creationId xmlns:a16="http://schemas.microsoft.com/office/drawing/2014/main" id="{2A793300-01D5-4986-84C7-65EDDCE1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088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9AA9BC"/>
                </a:solidFill>
                <a:latin typeface="Aptos"/>
                <a:ea typeface="Aptos"/>
                <a:cs typeface="Aptos"/>
              </a:rPr>
              <a:t>incl. a perfect CVSS 10.0</a:t>
            </a:r>
          </a:p>
        </p:txBody>
      </p:sp>
      <p:sp>
        <p:nvSpPr>
          <p:cNvPr id="19" name="stat-offsec-surface">
            <a:extLst xmlns:a="http://schemas.openxmlformats.org/drawingml/2006/main">
              <a:ext uri="{FF2B5EF4-FFF2-40B4-BE49-F238E27FC236}">
                <a16:creationId xmlns:a16="http://schemas.microsoft.com/office/drawing/2014/main" id="{9AA5218F-763C-4D81-9063-F15B2753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76650"/>
            <a:ext cx="32956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20" name="stat-offsec-icon-circle">
            <a:extLst xmlns:a="http://schemas.openxmlformats.org/drawingml/2006/main">
              <a:ext uri="{FF2B5EF4-FFF2-40B4-BE49-F238E27FC236}">
                <a16:creationId xmlns:a16="http://schemas.microsoft.com/office/drawing/2014/main" id="{9F2519A6-6AB4-4760-A78A-162E82A8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21" name="stat-offsec-icon-glyph">
            <a:extLst xmlns:a="http://schemas.openxmlformats.org/drawingml/2006/main">
              <a:ext uri="{FF2B5EF4-FFF2-40B4-BE49-F238E27FC236}">
                <a16:creationId xmlns:a16="http://schemas.microsoft.com/office/drawing/2014/main" id="{491582F8-CC2C-42B2-ADB8-63577AC8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957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#1</a:t>
            </a:r>
          </a:p>
        </p:txBody>
      </p:sp>
      <p:sp>
        <p:nvSpPr>
          <p:cNvPr id="22" name="stat-offsec-value">
            <a:extLst xmlns:a="http://schemas.openxmlformats.org/drawingml/2006/main">
              <a:ext uri="{FF2B5EF4-FFF2-40B4-BE49-F238E27FC236}">
                <a16:creationId xmlns:a16="http://schemas.microsoft.com/office/drawing/2014/main" id="{22E82FAA-9F1C-4597-83D9-4F021E20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434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28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#1 — Worldwide</a:t>
            </a:r>
          </a:p>
        </p:txBody>
      </p:sp>
      <p:sp>
        <p:nvSpPr>
          <p:cNvPr id="23" name="stat-offsec-label">
            <a:extLst xmlns:a="http://schemas.openxmlformats.org/drawingml/2006/main">
              <a:ext uri="{FF2B5EF4-FFF2-40B4-BE49-F238E27FC236}">
                <a16:creationId xmlns:a16="http://schemas.microsoft.com/office/drawing/2014/main" id="{C92EFC38-4C75-451F-983A-A376BD52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088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9AA9BC"/>
                </a:solidFill>
                <a:latin typeface="Aptos"/>
                <a:ea typeface="Aptos"/>
                <a:cs typeface="Aptos"/>
              </a:rPr>
              <a:t>OffSec Gauntlet</a:t>
            </a:r>
          </a:p>
        </p:txBody>
      </p:sp>
      <p:sp>
        <p:nvSpPr>
          <p:cNvPr id="24" name="stat-bh-surface">
            <a:extLst xmlns:a="http://schemas.openxmlformats.org/drawingml/2006/main">
              <a:ext uri="{FF2B5EF4-FFF2-40B4-BE49-F238E27FC236}">
                <a16:creationId xmlns:a16="http://schemas.microsoft.com/office/drawing/2014/main" id="{810EC7D4-61AD-4220-B36F-1A61548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32956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25" name="stat-bh-icon-circle">
            <a:extLst xmlns:a="http://schemas.openxmlformats.org/drawingml/2006/main">
              <a:ext uri="{FF2B5EF4-FFF2-40B4-BE49-F238E27FC236}">
                <a16:creationId xmlns:a16="http://schemas.microsoft.com/office/drawing/2014/main" id="{7B33C698-B70E-4A3D-A30F-A1235E21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26" name="stat-bh-icon-glyph">
            <a:extLst xmlns:a="http://schemas.openxmlformats.org/drawingml/2006/main">
              <a:ext uri="{FF2B5EF4-FFF2-40B4-BE49-F238E27FC236}">
                <a16:creationId xmlns:a16="http://schemas.microsoft.com/office/drawing/2014/main" id="{51769FA2-C3BC-48D5-9085-2EDE5793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957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BH</a:t>
            </a:r>
          </a:p>
        </p:txBody>
      </p:sp>
      <p:sp>
        <p:nvSpPr>
          <p:cNvPr id="27" name="stat-bh-value">
            <a:extLst xmlns:a="http://schemas.openxmlformats.org/drawingml/2006/main">
              <a:ext uri="{FF2B5EF4-FFF2-40B4-BE49-F238E27FC236}">
                <a16:creationId xmlns:a16="http://schemas.microsoft.com/office/drawing/2014/main" id="{7D13F1DE-402A-432A-9FFA-4EFCA8F7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Black Hat 2025</a:t>
            </a:r>
          </a:p>
        </p:txBody>
      </p:sp>
      <p:sp>
        <p:nvSpPr>
          <p:cNvPr id="28" name="stat-bh-label">
            <a:extLst xmlns:a="http://schemas.openxmlformats.org/drawingml/2006/main">
              <a:ext uri="{FF2B5EF4-FFF2-40B4-BE49-F238E27FC236}">
                <a16:creationId xmlns:a16="http://schemas.microsoft.com/office/drawing/2014/main" id="{CD7AB341-A50A-49DC-9049-658B6C8F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088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9AA9BC"/>
                </a:solidFill>
                <a:latin typeface="Aptos"/>
                <a:ea typeface="Aptos"/>
                <a:cs typeface="Aptos"/>
              </a:rPr>
              <a:t>Scholar — 1 of 8 global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B0960F-7385-4C9C-9CE8-E5EA448E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30" name="footer-links">
            <a:extLst xmlns:a="http://schemas.openxmlformats.org/drawingml/2006/main">
              <a:ext uri="{FF2B5EF4-FFF2-40B4-BE49-F238E27FC236}">
                <a16:creationId xmlns:a16="http://schemas.microsoft.com/office/drawing/2014/main" id="{E4E1F0D9-E5C7-458E-9C98-20EE0FD7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rPr>
              <a:t>snehbavarva.com   github.com/spbavarva   linkedin.com/in/snehbavarva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08B1C0B-5138-4B92-9B64-2A2D006F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727930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AA4A053-373B-41EE-B4E7-A8C16D34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WHAT I 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F831FF-B619-4CE6-8145-280DB41A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Security engineering through automation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72A4B4C-8837-47FA-B9F4-184F983A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9AA9BC"/>
                </a:solidFill>
                <a:latin typeface="Aptos"/>
                <a:ea typeface="Aptos"/>
                <a:cs typeface="Aptos"/>
              </a:rPr>
              <a:t>Offensive depth fused with AI/LLM-assisted workflows.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6D5630-7626-423D-B3C7-1E21A2E2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5" name="footer-links">
            <a:extLst xmlns:a="http://schemas.openxmlformats.org/drawingml/2006/main">
              <a:ext uri="{FF2B5EF4-FFF2-40B4-BE49-F238E27FC236}">
                <a16:creationId xmlns:a16="http://schemas.microsoft.com/office/drawing/2014/main" id="{5351AD68-EE27-4D2E-A512-4368A86B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rPr>
              <a:t>snehbavarva.com   github.com/spbavarva   linkedin.com/in/snehbavarva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CA4E96-F68C-46B9-8449-779EF806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02 / 05</a:t>
            </a:r>
          </a:p>
        </p:txBody>
      </p:sp>
      <p:sp>
        <p:nvSpPr>
          <p:cNvPr id="7" name="pillar-appsec-surface">
            <a:extLst xmlns:a="http://schemas.openxmlformats.org/drawingml/2006/main">
              <a:ext uri="{FF2B5EF4-FFF2-40B4-BE49-F238E27FC236}">
                <a16:creationId xmlns:a16="http://schemas.microsoft.com/office/drawing/2014/main" id="{E42FEEBE-5E52-48ED-B10A-5FE2185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8" name="pillar-appsec-icon-circle">
            <a:extLst xmlns:a="http://schemas.openxmlformats.org/drawingml/2006/main">
              <a:ext uri="{FF2B5EF4-FFF2-40B4-BE49-F238E27FC236}">
                <a16:creationId xmlns:a16="http://schemas.microsoft.com/office/drawing/2014/main" id="{2141F2A3-AE8E-47EB-BD25-6E92FA8F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9" name="pillar-appsec-icon-glyph">
            <a:extLst xmlns:a="http://schemas.openxmlformats.org/drawingml/2006/main">
              <a:ext uri="{FF2B5EF4-FFF2-40B4-BE49-F238E27FC236}">
                <a16:creationId xmlns:a16="http://schemas.microsoft.com/office/drawing/2014/main" id="{FF138370-E9C3-4109-BDBC-9044FEA7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{}</a:t>
            </a:r>
          </a:p>
        </p:txBody>
      </p:sp>
      <p:sp>
        <p:nvSpPr>
          <p:cNvPr id="10" name="pillar-appsec-title">
            <a:extLst xmlns:a="http://schemas.openxmlformats.org/drawingml/2006/main">
              <a:ext uri="{FF2B5EF4-FFF2-40B4-BE49-F238E27FC236}">
                <a16:creationId xmlns:a16="http://schemas.microsoft.com/office/drawing/2014/main" id="{CAD92244-90F9-48C0-9653-3AFAE40D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Application Security</a:t>
            </a:r>
          </a:p>
        </p:txBody>
      </p:sp>
      <p:sp>
        <p:nvSpPr>
          <p:cNvPr id="11" name="pillar-appsec-rule">
            <a:extLst xmlns:a="http://schemas.openxmlformats.org/drawingml/2006/main">
              <a:ext uri="{FF2B5EF4-FFF2-40B4-BE49-F238E27FC236}">
                <a16:creationId xmlns:a16="http://schemas.microsoft.com/office/drawing/2014/main" id="{52A6C8C3-3FC0-4FAA-8891-81BDDACC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12" name="pillar-appsec-bullets">
            <a:extLst xmlns:a="http://schemas.openxmlformats.org/drawingml/2006/main">
              <a:ext uri="{FF2B5EF4-FFF2-40B4-BE49-F238E27FC236}">
                <a16:creationId xmlns:a16="http://schemas.microsoft.com/office/drawing/2014/main" id="{ECB4D53D-EA32-4544-AB95-15C5EDB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9908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11 CVEs</a:t>
            </a: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 in widely-used open source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Semgrep + LLM</a:t>
            </a: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 + manual review pipeline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~60% fewer false positives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BurpLabs</a:t>
            </a: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 — 139-lab PortSwigger automation framework</a:t>
            </a:r>
          </a:p>
        </p:txBody>
      </p:sp>
      <p:sp>
        <p:nvSpPr>
          <p:cNvPr id="13" name="pillar-cloud-surface">
            <a:extLst xmlns:a="http://schemas.openxmlformats.org/drawingml/2006/main">
              <a:ext uri="{FF2B5EF4-FFF2-40B4-BE49-F238E27FC236}">
                <a16:creationId xmlns:a16="http://schemas.microsoft.com/office/drawing/2014/main" id="{B7F8BFE0-9E14-47CE-B94D-43251E0E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14" name="pillar-cloud-icon-circle">
            <a:extLst xmlns:a="http://schemas.openxmlformats.org/drawingml/2006/main">
              <a:ext uri="{FF2B5EF4-FFF2-40B4-BE49-F238E27FC236}">
                <a16:creationId xmlns:a16="http://schemas.microsoft.com/office/drawing/2014/main" id="{148D6B03-E074-4BC1-B1AD-3A8D499E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15" name="pillar-cloud-icon-glyph">
            <a:extLst xmlns:a="http://schemas.openxmlformats.org/drawingml/2006/main">
              <a:ext uri="{FF2B5EF4-FFF2-40B4-BE49-F238E27FC236}">
                <a16:creationId xmlns:a16="http://schemas.microsoft.com/office/drawing/2014/main" id="{0B015DD5-4CE1-4BD4-AE8B-BF823CE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AWS</a:t>
            </a:r>
          </a:p>
        </p:txBody>
      </p:sp>
      <p:sp>
        <p:nvSpPr>
          <p:cNvPr id="16" name="pillar-cloud-title">
            <a:extLst xmlns:a="http://schemas.openxmlformats.org/drawingml/2006/main">
              <a:ext uri="{FF2B5EF4-FFF2-40B4-BE49-F238E27FC236}">
                <a16:creationId xmlns:a16="http://schemas.microsoft.com/office/drawing/2014/main" id="{4D536A60-7DBC-42F7-8491-DF1F14E2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812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Cloud Security</a:t>
            </a:r>
          </a:p>
        </p:txBody>
      </p:sp>
      <p:sp>
        <p:nvSpPr>
          <p:cNvPr id="17" name="pillar-cloud-rule">
            <a:extLst xmlns:a="http://schemas.openxmlformats.org/drawingml/2006/main">
              <a:ext uri="{FF2B5EF4-FFF2-40B4-BE49-F238E27FC236}">
                <a16:creationId xmlns:a16="http://schemas.microsoft.com/office/drawing/2014/main" id="{F613499B-BF62-4188-ABA5-B455F70D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18" name="pillar-cloud-bullets">
            <a:extLst xmlns:a="http://schemas.openxmlformats.org/drawingml/2006/main">
              <a:ext uri="{FF2B5EF4-FFF2-40B4-BE49-F238E27FC236}">
                <a16:creationId xmlns:a16="http://schemas.microsoft.com/office/drawing/2014/main" id="{314CD1E8-C79B-43AD-BB69-A4FA0B8E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9908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AWS pentest with </a:t>
            </a: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Pacu</a:t>
            </a: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 and </a:t>
            </a: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PwnedLabs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CloudSentinel</a:t>
            </a: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 chains misconfigs into attack paths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IAM privilege escalation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SSRF → IMDS chains</a:t>
            </a:r>
          </a:p>
        </p:txBody>
      </p:sp>
      <p:sp>
        <p:nvSpPr>
          <p:cNvPr id="19" name="pillar-dnr-surface">
            <a:extLst xmlns:a="http://schemas.openxmlformats.org/drawingml/2006/main">
              <a:ext uri="{FF2B5EF4-FFF2-40B4-BE49-F238E27FC236}">
                <a16:creationId xmlns:a16="http://schemas.microsoft.com/office/drawing/2014/main" id="{7DC4DA05-DAB2-4247-865B-D8FAAF24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20" name="pillar-dnr-icon-circle">
            <a:extLst xmlns:a="http://schemas.openxmlformats.org/drawingml/2006/main">
              <a:ext uri="{FF2B5EF4-FFF2-40B4-BE49-F238E27FC236}">
                <a16:creationId xmlns:a16="http://schemas.microsoft.com/office/drawing/2014/main" id="{1B5B6CBB-03F5-4DBA-96D6-D6AC2414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21" name="pillar-dnr-icon-glyph">
            <a:extLst xmlns:a="http://schemas.openxmlformats.org/drawingml/2006/main">
              <a:ext uri="{FF2B5EF4-FFF2-40B4-BE49-F238E27FC236}">
                <a16:creationId xmlns:a16="http://schemas.microsoft.com/office/drawing/2014/main" id="{97BCE80B-6404-4C77-8E7B-4CC670B6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IOC</a:t>
            </a:r>
          </a:p>
        </p:txBody>
      </p:sp>
      <p:sp>
        <p:nvSpPr>
          <p:cNvPr id="22" name="pillar-dnr-title">
            <a:extLst xmlns:a="http://schemas.openxmlformats.org/drawingml/2006/main">
              <a:ext uri="{FF2B5EF4-FFF2-40B4-BE49-F238E27FC236}">
                <a16:creationId xmlns:a16="http://schemas.microsoft.com/office/drawing/2014/main" id="{5B5DC122-6871-467F-B0B4-2840DBE3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Detection &amp; Response</a:t>
            </a:r>
          </a:p>
        </p:txBody>
      </p:sp>
      <p:sp>
        <p:nvSpPr>
          <p:cNvPr id="23" name="pillar-dnr-rule">
            <a:extLst xmlns:a="http://schemas.openxmlformats.org/drawingml/2006/main">
              <a:ext uri="{FF2B5EF4-FFF2-40B4-BE49-F238E27FC236}">
                <a16:creationId xmlns:a16="http://schemas.microsoft.com/office/drawing/2014/main" id="{C4AD0E4F-CC41-49C4-970D-86B4A6FC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24" name="pillar-dnr-bullets">
            <a:extLst xmlns:a="http://schemas.openxmlformats.org/drawingml/2006/main">
              <a:ext uri="{FF2B5EF4-FFF2-40B4-BE49-F238E27FC236}">
                <a16:creationId xmlns:a16="http://schemas.microsoft.com/office/drawing/2014/main" id="{AF8BC3AC-E8F0-4458-BDE3-154E4B5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29908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0day.digest</a:t>
            </a: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 review-gated AI threat-intel feed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SOAR-EDR</a:t>
            </a: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 automation with LimaCharlie + Tines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Sigma rules</a:t>
            </a:r>
          </a:p>
          <a:p xmlns:a="http://schemas.openxmlformats.org/drawingml/2006/main">
            <a:pPr marL="18" indent="-9">
              <a:lnSpc>
                <a:spcPct val="103000"/>
              </a:lnSpc>
              <a:spcAft>
                <a:spcPts val="5"/>
              </a:spcAft>
              <a:buNone/>
              <a:defRPr sz="109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95">
                <a:solidFill>
                  <a:srgbClr val="9AA9BC"/>
                </a:solidFill>
                <a:latin typeface="Aptos"/>
                <a:ea typeface="Aptos"/>
                <a:cs typeface="Aptos"/>
              </a:rPr>
              <a:t>IOC-based hunting</a:t>
            </a:r>
          </a:p>
        </p:txBody>
      </p:sp>
    </p:spTree>
    <p:extLst>
      <p:ext uri="{BB962C8B-B14F-4D97-AF65-F5344CB8AC3E}">
        <p14:creationId xmlns:p14="http://schemas.microsoft.com/office/powerpoint/2010/main" val="1785384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DFE7F6B-9ED7-448D-B71A-B271D4C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SELECTED WORK &amp; IMPACT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0C67CC-09A9-4251-BB6F-60C54C51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Projects that turn findings into security systems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FC7B01B-F5DF-436C-8F99-FF23D8AC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9AA9BC"/>
                </a:solidFill>
                <a:latin typeface="Aptos"/>
                <a:ea typeface="Aptos"/>
                <a:cs typeface="Aptos"/>
              </a:rPr>
              <a:t>A tight sample of offensive research, automation, cloud attack-path analysis, and detection engineering.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C8E0795-B9E4-44E8-A6DA-6F7ED98C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5" name="footer-links">
            <a:extLst xmlns:a="http://schemas.openxmlformats.org/drawingml/2006/main">
              <a:ext uri="{FF2B5EF4-FFF2-40B4-BE49-F238E27FC236}">
                <a16:creationId xmlns:a16="http://schemas.microsoft.com/office/drawing/2014/main" id="{AF1A0638-E300-464E-9B6C-FE4345C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rPr>
              <a:t>snehbavarva.com   github.com/spbavarva   linkedin.com/in/snehbavarva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F9B0F04-A562-4B37-9EE7-7480AD69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03 / 05</a:t>
            </a:r>
          </a:p>
        </p:txBody>
      </p:sp>
      <p:sp>
        <p:nvSpPr>
          <p:cNvPr id="7" name="project-cloudsentinel-surface">
            <a:extLst xmlns:a="http://schemas.openxmlformats.org/drawingml/2006/main">
              <a:ext uri="{FF2B5EF4-FFF2-40B4-BE49-F238E27FC236}">
                <a16:creationId xmlns:a16="http://schemas.microsoft.com/office/drawing/2014/main" id="{67E822F5-2100-403A-9B02-638B47E4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197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8" name="project-cloudsentinel-icon-circle">
            <a:extLst xmlns:a="http://schemas.openxmlformats.org/drawingml/2006/main">
              <a:ext uri="{FF2B5EF4-FFF2-40B4-BE49-F238E27FC236}">
                <a16:creationId xmlns:a16="http://schemas.microsoft.com/office/drawing/2014/main" id="{C8E526AB-34B5-4222-8CDC-02DDE9B9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9" name="project-cloudsentinel-icon-glyph">
            <a:extLst xmlns:a="http://schemas.openxmlformats.org/drawingml/2006/main">
              <a:ext uri="{FF2B5EF4-FFF2-40B4-BE49-F238E27FC236}">
                <a16:creationId xmlns:a16="http://schemas.microsoft.com/office/drawing/2014/main" id="{B433C691-D7DC-4506-9AEC-52CE4E5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AWS</a:t>
            </a:r>
          </a:p>
        </p:txBody>
      </p:sp>
      <p:sp>
        <p:nvSpPr>
          <p:cNvPr id="10" name="project-cloudsentinel-title">
            <a:extLst xmlns:a="http://schemas.openxmlformats.org/drawingml/2006/main">
              <a:ext uri="{FF2B5EF4-FFF2-40B4-BE49-F238E27FC236}">
                <a16:creationId xmlns:a16="http://schemas.microsoft.com/office/drawing/2014/main" id="{9A538B11-7006-4465-8C57-6A08D47C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449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CloudSentinel</a:t>
            </a:r>
          </a:p>
        </p:txBody>
      </p:sp>
      <p:sp>
        <p:nvSpPr>
          <p:cNvPr id="11" name="project-cloudsentinel-desc">
            <a:extLst xmlns:a="http://schemas.openxmlformats.org/drawingml/2006/main">
              <a:ext uri="{FF2B5EF4-FFF2-40B4-BE49-F238E27FC236}">
                <a16:creationId xmlns:a16="http://schemas.microsoft.com/office/drawing/2014/main" id="{D24ABA0A-291B-456E-AA9B-36053EA4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483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173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2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20">
                <a:solidFill>
                  <a:srgbClr val="9AA9BC"/>
                </a:solidFill>
                <a:latin typeface="Aptos"/>
                <a:ea typeface="Aptos"/>
                <a:cs typeface="Aptos"/>
              </a:rPr>
              <a:t>AI-powered AWS scanner chaining misconfigurations into full attack paths. LLM scoped to narrative for deterministic results, &lt;20% false positives; applied to Y Combinator.</a:t>
            </a:r>
          </a:p>
        </p:txBody>
      </p:sp>
      <p:sp>
        <p:nvSpPr>
          <p:cNvPr id="12" name="project-cloudsentinel-tag-0">
            <a:extLst xmlns:a="http://schemas.openxmlformats.org/drawingml/2006/main">
              <a:ext uri="{FF2B5EF4-FFF2-40B4-BE49-F238E27FC236}">
                <a16:creationId xmlns:a16="http://schemas.microsoft.com/office/drawing/2014/main" id="{2B0FF061-0E3D-40E3-BEDA-B917F733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5143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AWS</a:t>
            </a:r>
          </a:p>
        </p:txBody>
      </p:sp>
      <p:sp>
        <p:nvSpPr>
          <p:cNvPr id="13" name="project-cloudsentinel-tag-1">
            <a:extLst xmlns:a="http://schemas.openxmlformats.org/drawingml/2006/main">
              <a:ext uri="{FF2B5EF4-FFF2-40B4-BE49-F238E27FC236}">
                <a16:creationId xmlns:a16="http://schemas.microsoft.com/office/drawing/2014/main" id="{FF87F565-025C-44A2-935B-6E1DEBA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101727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ATTACK PATHS</a:t>
            </a:r>
          </a:p>
        </p:txBody>
      </p:sp>
      <p:sp>
        <p:nvSpPr>
          <p:cNvPr id="14" name="project-cloudsentinel-tag-2">
            <a:extLst xmlns:a="http://schemas.openxmlformats.org/drawingml/2006/main">
              <a:ext uri="{FF2B5EF4-FFF2-40B4-BE49-F238E27FC236}">
                <a16:creationId xmlns:a16="http://schemas.microsoft.com/office/drawing/2014/main" id="{3D04D37A-D949-4FDF-96EB-8A684E2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70" y="2790825"/>
            <a:ext cx="664845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&lt;20% FP</a:t>
            </a:r>
          </a:p>
        </p:txBody>
      </p:sp>
      <p:sp>
        <p:nvSpPr>
          <p:cNvPr id="15" name="project-0day-surface">
            <a:extLst xmlns:a="http://schemas.openxmlformats.org/drawingml/2006/main">
              <a:ext uri="{FF2B5EF4-FFF2-40B4-BE49-F238E27FC236}">
                <a16:creationId xmlns:a16="http://schemas.microsoft.com/office/drawing/2014/main" id="{B841731A-2852-443E-8130-A52D27B1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2197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16" name="project-0day-icon-circle">
            <a:extLst xmlns:a="http://schemas.openxmlformats.org/drawingml/2006/main">
              <a:ext uri="{FF2B5EF4-FFF2-40B4-BE49-F238E27FC236}">
                <a16:creationId xmlns:a16="http://schemas.microsoft.com/office/drawing/2014/main" id="{E80BC3E5-D14F-46F2-B42B-C1394F6E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17" name="project-0day-icon-glyph">
            <a:extLst xmlns:a="http://schemas.openxmlformats.org/drawingml/2006/main">
              <a:ext uri="{FF2B5EF4-FFF2-40B4-BE49-F238E27FC236}">
                <a16:creationId xmlns:a16="http://schemas.microsoft.com/office/drawing/2014/main" id="{30B32436-325D-4523-ABDF-B97746DF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33575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0D</a:t>
            </a:r>
          </a:p>
        </p:txBody>
      </p:sp>
      <p:sp>
        <p:nvSpPr>
          <p:cNvPr id="18" name="project-0day-title">
            <a:extLst xmlns:a="http://schemas.openxmlformats.org/drawingml/2006/main">
              <a:ext uri="{FF2B5EF4-FFF2-40B4-BE49-F238E27FC236}">
                <a16:creationId xmlns:a16="http://schemas.microsoft.com/office/drawing/2014/main" id="{D971A083-575F-4B9D-8560-2B9B67F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49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0day.digest</a:t>
            </a:r>
          </a:p>
        </p:txBody>
      </p:sp>
      <p:sp>
        <p:nvSpPr>
          <p:cNvPr id="19" name="project-0day-desc">
            <a:extLst xmlns:a="http://schemas.openxmlformats.org/drawingml/2006/main">
              <a:ext uri="{FF2B5EF4-FFF2-40B4-BE49-F238E27FC236}">
                <a16:creationId xmlns:a16="http://schemas.microsoft.com/office/drawing/2014/main" id="{669F6025-AA57-49C3-8128-2F8835E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483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2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20">
                <a:solidFill>
                  <a:srgbClr val="9AA9BC"/>
                </a:solidFill>
                <a:latin typeface="Aptos"/>
                <a:ea typeface="Aptos"/>
                <a:cs typeface="Aptos"/>
              </a:rPr>
              <a:t>Automated threat-intel feed with review-gated AI publishing on GitHub Actions. Live workflow designed for signal, traceability, and fast editorial review.</a:t>
            </a:r>
          </a:p>
        </p:txBody>
      </p:sp>
      <p:sp>
        <p:nvSpPr>
          <p:cNvPr id="20" name="project-0day-tag-0">
            <a:extLst xmlns:a="http://schemas.openxmlformats.org/drawingml/2006/main">
              <a:ext uri="{FF2B5EF4-FFF2-40B4-BE49-F238E27FC236}">
                <a16:creationId xmlns:a16="http://schemas.microsoft.com/office/drawing/2014/main" id="{906D7F0A-AAFB-4C9F-AE69-E019B699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90825"/>
            <a:ext cx="805815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AI REVIEW</a:t>
            </a:r>
          </a:p>
        </p:txBody>
      </p:sp>
      <p:sp>
        <p:nvSpPr>
          <p:cNvPr id="21" name="project-0day-tag-1">
            <a:extLst xmlns:a="http://schemas.openxmlformats.org/drawingml/2006/main">
              <a:ext uri="{FF2B5EF4-FFF2-40B4-BE49-F238E27FC236}">
                <a16:creationId xmlns:a16="http://schemas.microsoft.com/office/drawing/2014/main" id="{208A6928-35E5-41A1-B6CA-DF78720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790825"/>
            <a:ext cx="115824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GITHUB ACTIONS</a:t>
            </a:r>
          </a:p>
        </p:txBody>
      </p:sp>
      <p:sp>
        <p:nvSpPr>
          <p:cNvPr id="22" name="project-0day-tag-2">
            <a:extLst xmlns:a="http://schemas.openxmlformats.org/drawingml/2006/main">
              <a:ext uri="{FF2B5EF4-FFF2-40B4-BE49-F238E27FC236}">
                <a16:creationId xmlns:a16="http://schemas.microsoft.com/office/drawing/2014/main" id="{69BE9FC7-100C-4052-AF54-9A9356B4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605" y="2790825"/>
            <a:ext cx="5143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LIVE</a:t>
            </a:r>
          </a:p>
        </p:txBody>
      </p:sp>
      <p:sp>
        <p:nvSpPr>
          <p:cNvPr id="23" name="project-vulnfinder-surface">
            <a:extLst xmlns:a="http://schemas.openxmlformats.org/drawingml/2006/main">
              <a:ext uri="{FF2B5EF4-FFF2-40B4-BE49-F238E27FC236}">
                <a16:creationId xmlns:a16="http://schemas.microsoft.com/office/drawing/2014/main" id="{89AA145C-382E-4B35-99FA-97D28A70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197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24" name="project-vulnfinder-icon-circle">
            <a:extLst xmlns:a="http://schemas.openxmlformats.org/drawingml/2006/main">
              <a:ext uri="{FF2B5EF4-FFF2-40B4-BE49-F238E27FC236}">
                <a16:creationId xmlns:a16="http://schemas.microsoft.com/office/drawing/2014/main" id="{6596DFB4-623B-4CFA-A230-F9D964AD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25" name="project-vulnfinder-icon-glyph">
            <a:extLst xmlns:a="http://schemas.openxmlformats.org/drawingml/2006/main">
              <a:ext uri="{FF2B5EF4-FFF2-40B4-BE49-F238E27FC236}">
                <a16:creationId xmlns:a16="http://schemas.microsoft.com/office/drawing/2014/main" id="{5152C5C7-A4A5-4AF1-BD62-6F4738ED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VF</a:t>
            </a:r>
          </a:p>
        </p:txBody>
      </p:sp>
      <p:sp>
        <p:nvSpPr>
          <p:cNvPr id="26" name="project-vulnfinder-title">
            <a:extLst xmlns:a="http://schemas.openxmlformats.org/drawingml/2006/main">
              <a:ext uri="{FF2B5EF4-FFF2-40B4-BE49-F238E27FC236}">
                <a16:creationId xmlns:a16="http://schemas.microsoft.com/office/drawing/2014/main" id="{6D7B11D0-C3D6-4D1E-994A-7219FF4B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449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vulnfinder</a:t>
            </a:r>
          </a:p>
        </p:txBody>
      </p:sp>
      <p:sp>
        <p:nvSpPr>
          <p:cNvPr id="27" name="project-vulnfinder-desc">
            <a:extLst xmlns:a="http://schemas.openxmlformats.org/drawingml/2006/main">
              <a:ext uri="{FF2B5EF4-FFF2-40B4-BE49-F238E27FC236}">
                <a16:creationId xmlns:a16="http://schemas.microsoft.com/office/drawing/2014/main" id="{EE23B0DD-3BA3-49C2-820B-069AC5C8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483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2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20">
                <a:solidFill>
                  <a:srgbClr val="9AA9BC"/>
                </a:solidFill>
                <a:latin typeface="Aptos"/>
                <a:ea typeface="Aptos"/>
                <a:cs typeface="Aptos"/>
              </a:rPr>
              <a:t>Open-source vulnerability-discovery tooling at vulnfinder.github.io, built to accelerate repeatable source review and candidate finding triage.</a:t>
            </a:r>
          </a:p>
        </p:txBody>
      </p:sp>
      <p:sp>
        <p:nvSpPr>
          <p:cNvPr id="28" name="project-vulnfinder-tag-0">
            <a:extLst xmlns:a="http://schemas.openxmlformats.org/drawingml/2006/main">
              <a:ext uri="{FF2B5EF4-FFF2-40B4-BE49-F238E27FC236}">
                <a16:creationId xmlns:a16="http://schemas.microsoft.com/office/drawing/2014/main" id="{23E6A4F4-5F24-48B2-9EA8-5A9AE93F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5143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OSS</a:t>
            </a:r>
          </a:p>
        </p:txBody>
      </p:sp>
      <p:sp>
        <p:nvSpPr>
          <p:cNvPr id="29" name="project-vulnfinder-tag-1">
            <a:extLst xmlns:a="http://schemas.openxmlformats.org/drawingml/2006/main">
              <a:ext uri="{FF2B5EF4-FFF2-40B4-BE49-F238E27FC236}">
                <a16:creationId xmlns:a16="http://schemas.microsoft.com/office/drawing/2014/main" id="{687746E3-DC31-409B-9F63-6A70A1ED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71975"/>
            <a:ext cx="115824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VULN DISCOVERY</a:t>
            </a:r>
          </a:p>
        </p:txBody>
      </p:sp>
      <p:sp>
        <p:nvSpPr>
          <p:cNvPr id="30" name="project-vulnfinder-tag-2">
            <a:extLst xmlns:a="http://schemas.openxmlformats.org/drawingml/2006/main">
              <a:ext uri="{FF2B5EF4-FFF2-40B4-BE49-F238E27FC236}">
                <a16:creationId xmlns:a16="http://schemas.microsoft.com/office/drawing/2014/main" id="{1E9C65C0-821E-4A50-BBB3-1B9986B5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371975"/>
            <a:ext cx="664845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TOOLING</a:t>
            </a:r>
          </a:p>
        </p:txBody>
      </p:sp>
      <p:sp>
        <p:nvSpPr>
          <p:cNvPr id="31" name="project-soaredr-surface">
            <a:extLst xmlns:a="http://schemas.openxmlformats.org/drawingml/2006/main">
              <a:ext uri="{FF2B5EF4-FFF2-40B4-BE49-F238E27FC236}">
                <a16:creationId xmlns:a16="http://schemas.microsoft.com/office/drawing/2014/main" id="{2DB3067A-94A4-4951-A5BC-A2170F56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52197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32" name="project-soaredr-icon-circle">
            <a:extLst xmlns:a="http://schemas.openxmlformats.org/drawingml/2006/main">
              <a:ext uri="{FF2B5EF4-FFF2-40B4-BE49-F238E27FC236}">
                <a16:creationId xmlns:a16="http://schemas.microsoft.com/office/drawing/2014/main" id="{370CE620-748F-459A-9903-D5EC20A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33" name="project-soaredr-icon-glyph">
            <a:extLst xmlns:a="http://schemas.openxmlformats.org/drawingml/2006/main">
              <a:ext uri="{FF2B5EF4-FFF2-40B4-BE49-F238E27FC236}">
                <a16:creationId xmlns:a16="http://schemas.microsoft.com/office/drawing/2014/main" id="{7FE86A1F-1F1D-4DD8-8984-87F3EC56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14725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DR</a:t>
            </a:r>
          </a:p>
        </p:txBody>
      </p:sp>
      <p:sp>
        <p:nvSpPr>
          <p:cNvPr id="34" name="project-soaredr-title">
            <a:extLst xmlns:a="http://schemas.openxmlformats.org/drawingml/2006/main">
              <a:ext uri="{FF2B5EF4-FFF2-40B4-BE49-F238E27FC236}">
                <a16:creationId xmlns:a16="http://schemas.microsoft.com/office/drawing/2014/main" id="{1A80FA1F-96F1-41F2-A254-B1BC891F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33775"/>
            <a:ext cx="449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SOAR-EDR Emulation</a:t>
            </a:r>
          </a:p>
        </p:txBody>
      </p:sp>
      <p:sp>
        <p:nvSpPr>
          <p:cNvPr id="35" name="project-soaredr-desc">
            <a:extLst xmlns:a="http://schemas.openxmlformats.org/drawingml/2006/main">
              <a:ext uri="{FF2B5EF4-FFF2-40B4-BE49-F238E27FC236}">
                <a16:creationId xmlns:a16="http://schemas.microsoft.com/office/drawing/2014/main" id="{D02D6BB4-58B5-4281-9A9B-F0BF30A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14775"/>
            <a:ext cx="483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2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020">
                <a:solidFill>
                  <a:srgbClr val="9AA9BC"/>
                </a:solidFill>
                <a:latin typeface="Aptos"/>
                <a:ea typeface="Aptos"/>
                <a:cs typeface="Aptos"/>
              </a:rPr>
              <a:t>Adversary emulation plus automated detection and response using LimaCharlie, Tines, Slack, Sigma, and IOC-driven hunting patterns.</a:t>
            </a:r>
          </a:p>
        </p:txBody>
      </p:sp>
      <p:sp>
        <p:nvSpPr>
          <p:cNvPr id="36" name="project-soaredr-tag-0">
            <a:extLst xmlns:a="http://schemas.openxmlformats.org/drawingml/2006/main">
              <a:ext uri="{FF2B5EF4-FFF2-40B4-BE49-F238E27FC236}">
                <a16:creationId xmlns:a16="http://schemas.microsoft.com/office/drawing/2014/main" id="{53F7354F-BD9C-413C-A973-47887247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71975"/>
            <a:ext cx="5143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EDR</a:t>
            </a:r>
          </a:p>
        </p:txBody>
      </p:sp>
      <p:sp>
        <p:nvSpPr>
          <p:cNvPr id="37" name="project-soaredr-tag-1">
            <a:extLst xmlns:a="http://schemas.openxmlformats.org/drawingml/2006/main">
              <a:ext uri="{FF2B5EF4-FFF2-40B4-BE49-F238E27FC236}">
                <a16:creationId xmlns:a16="http://schemas.microsoft.com/office/drawing/2014/main" id="{6E35AC71-AD33-4CED-A5D0-D176F366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371975"/>
            <a:ext cx="5143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SOAR</a:t>
            </a:r>
          </a:p>
        </p:txBody>
      </p:sp>
      <p:sp>
        <p:nvSpPr>
          <p:cNvPr id="38" name="project-soaredr-tag-2">
            <a:extLst xmlns:a="http://schemas.openxmlformats.org/drawingml/2006/main">
              <a:ext uri="{FF2B5EF4-FFF2-40B4-BE49-F238E27FC236}">
                <a16:creationId xmlns:a16="http://schemas.microsoft.com/office/drawing/2014/main" id="{CE326661-BE97-4FAB-8468-58FABD42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71975"/>
            <a:ext cx="523875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626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  <p:txBody>
          <a:bodyPr xmlns:a="http://schemas.openxmlformats.org/drawingml/2006/main" wrap="non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2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SIGMA</a:t>
            </a:r>
          </a:p>
        </p:txBody>
      </p:sp>
      <p:sp>
        <p:nvSpPr>
          <p:cNvPr id="39" name="cve-band">
            <a:extLst xmlns:a="http://schemas.openxmlformats.org/drawingml/2006/main">
              <a:ext uri="{FF2B5EF4-FFF2-40B4-BE49-F238E27FC236}">
                <a16:creationId xmlns:a16="http://schemas.microsoft.com/office/drawing/2014/main" id="{B792D1BC-8E71-45E4-9F05-B6CCC997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91323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</p:sp>
      <p:sp>
        <p:nvSpPr>
          <p:cNvPr id="40" name="cve-band-title">
            <a:extLst xmlns:a="http://schemas.openxmlformats.org/drawingml/2006/main">
              <a:ext uri="{FF2B5EF4-FFF2-40B4-BE49-F238E27FC236}">
                <a16:creationId xmlns:a16="http://schemas.microsoft.com/office/drawing/2014/main" id="{1A3C898B-E914-40F5-BC9C-78D05939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CVE highlight band</a:t>
            </a:r>
          </a:p>
        </p:txBody>
      </p:sp>
      <p:sp>
        <p:nvSpPr>
          <p:cNvPr id="41" name="cve-band-stat">
            <a:extLst xmlns:a="http://schemas.openxmlformats.org/drawingml/2006/main">
              <a:ext uri="{FF2B5EF4-FFF2-40B4-BE49-F238E27FC236}">
                <a16:creationId xmlns:a16="http://schemas.microsoft.com/office/drawing/2014/main" id="{C8B939EC-7FA9-467C-908F-A96BCFC2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1731"/>
          </a:bodyPr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9AA9BC"/>
                </a:solidFill>
                <a:latin typeface="Courier New"/>
                <a:ea typeface="Courier New"/>
                <a:cs typeface="Courier New"/>
              </a:defRPr>
            </a:pPr>
            <a:r>
              <a:rPr sz="938">
                <a:solidFill>
                  <a:srgbClr val="9AA9BC"/>
                </a:solidFill>
                <a:latin typeface="Courier New"/>
                <a:ea typeface="Courier New"/>
                <a:cs typeface="Courier New"/>
              </a:rPr>
              <a:t>11 CVEs · 6 projects · 2 Critical / 2 High / 6 Medium / 1 Low</a:t>
            </a:r>
          </a:p>
        </p:txBody>
      </p:sp>
      <p:sp>
        <p:nvSpPr>
          <p:cNvPr id="42" name="cve-ai-note">
            <a:extLst xmlns:a="http://schemas.openxmlformats.org/drawingml/2006/main">
              <a:ext uri="{FF2B5EF4-FFF2-40B4-BE49-F238E27FC236}">
                <a16:creationId xmlns:a16="http://schemas.microsoft.com/office/drawing/2014/main" id="{004BEFFB-3469-4E56-B707-B5ADBF2A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45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708198"/>
                </a:solidFill>
                <a:latin typeface="Aptos"/>
                <a:ea typeface="Aptos"/>
                <a:cs typeface="Aptos"/>
              </a:defRPr>
            </a:pPr>
            <a:r>
              <a:rPr sz="863">
                <a:solidFill>
                  <a:srgbClr val="708198"/>
                </a:solidFill>
                <a:latin typeface="Aptos"/>
                <a:ea typeface="Aptos"/>
                <a:cs typeface="Aptos"/>
              </a:rPr>
              <a:t>Several CVEs are in AI/LLM infrastructure: vm2, PraisonAI, MCP handlers.</a:t>
            </a:r>
          </a:p>
        </p:txBody>
      </p:sp>
      <p:sp>
        <p:nvSpPr>
          <p:cNvPr id="43" name="headliner-vm2-score">
            <a:extLst xmlns:a="http://schemas.openxmlformats.org/drawingml/2006/main">
              <a:ext uri="{FF2B5EF4-FFF2-40B4-BE49-F238E27FC236}">
                <a16:creationId xmlns:a16="http://schemas.microsoft.com/office/drawing/2014/main" id="{C76545CC-796E-48FB-B5E2-B0A63DC4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29225"/>
            <a:ext cx="4953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3B4F">
              <a:alpha val="16000"/>
            </a:srgbClr>
          </a:solidFill>
          <a:ln xmlns:a="http://schemas.openxmlformats.org/drawingml/2006/main" w="9525">
            <a:solidFill>
              <a:srgbClr val="FF3B4F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rPr>
              <a:t>10.0</a:t>
            </a:r>
          </a:p>
        </p:txBody>
      </p:sp>
      <p:sp>
        <p:nvSpPr>
          <p:cNvPr id="44" name="headliner-vm2">
            <a:extLst xmlns:a="http://schemas.openxmlformats.org/drawingml/2006/main">
              <a:ext uri="{FF2B5EF4-FFF2-40B4-BE49-F238E27FC236}">
                <a16:creationId xmlns:a16="http://schemas.microsoft.com/office/drawing/2014/main" id="{F2632DD4-0191-48B4-874D-5079C4C0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9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CVE-2026-47140</a:t>
            </a:r>
            <a:r>
              <a:rPr sz="975">
                <a:solidFill>
                  <a:srgbClr val="9AA9BC"/>
                </a:solidFill>
                <a:latin typeface="Aptos"/>
                <a:ea typeface="Aptos"/>
                <a:cs typeface="Aptos"/>
              </a:rPr>
              <a:t>  vm2 sandbox escape → host RCE</a:t>
            </a:r>
          </a:p>
        </p:txBody>
      </p:sp>
      <p:sp>
        <p:nvSpPr>
          <p:cNvPr id="45" name="headliner-praison-score">
            <a:extLst xmlns:a="http://schemas.openxmlformats.org/drawingml/2006/main">
              <a:ext uri="{FF2B5EF4-FFF2-40B4-BE49-F238E27FC236}">
                <a16:creationId xmlns:a16="http://schemas.microsoft.com/office/drawing/2014/main" id="{C3A5B1B3-FBD3-494E-93D8-EA4CC863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91175"/>
            <a:ext cx="4953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3B4F">
              <a:alpha val="16000"/>
            </a:srgbClr>
          </a:solidFill>
          <a:ln xmlns:a="http://schemas.openxmlformats.org/drawingml/2006/main" w="9525">
            <a:solidFill>
              <a:srgbClr val="FF3B4F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rPr>
              <a:t>9.4</a:t>
            </a:r>
          </a:p>
        </p:txBody>
      </p:sp>
      <p:sp>
        <p:nvSpPr>
          <p:cNvPr id="46" name="headliner-praison">
            <a:extLst xmlns:a="http://schemas.openxmlformats.org/drawingml/2006/main">
              <a:ext uri="{FF2B5EF4-FFF2-40B4-BE49-F238E27FC236}">
                <a16:creationId xmlns:a16="http://schemas.microsoft.com/office/drawing/2014/main" id="{FB09C1E8-83AA-4481-8FD2-F8AE5010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81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9BC"/>
                </a:solidFill>
                <a:latin typeface="Aptos"/>
                <a:ea typeface="Aptos"/>
                <a:cs typeface="Aptos"/>
              </a:rPr>
              <a:t>CVE-2026-47407</a:t>
            </a:r>
            <a:r>
              <a:rPr sz="975">
                <a:solidFill>
                  <a:srgbClr val="9AA9BC"/>
                </a:solidFill>
                <a:latin typeface="Aptos"/>
                <a:ea typeface="Aptos"/>
                <a:cs typeface="Aptos"/>
              </a:rPr>
              <a:t>  PraisonAI cross-workspace IDOR + privilege escalation</a:t>
            </a:r>
          </a:p>
        </p:txBody>
      </p:sp>
    </p:spTree>
    <p:extLst>
      <p:ext uri="{BB962C8B-B14F-4D97-AF65-F5344CB8AC3E}">
        <p14:creationId xmlns:p14="http://schemas.microsoft.com/office/powerpoint/2010/main" val="856698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3010854-D222-43D5-BE38-7B719479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RECOGNITION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EDE0F9-E6B9-4388-A885-607CB53E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Signals from the field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DC5D05B-2311-445A-8AF6-2DFDF237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9AA9BC"/>
                </a:solidFill>
                <a:latin typeface="Aptos"/>
                <a:ea typeface="Aptos"/>
                <a:cs typeface="Aptos"/>
              </a:rPr>
              <a:t>Awards, rankings, scholar selections, and community validation across offensive security, cloud, and AI.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53268D5-70D8-4692-8D07-45F1FB1B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5" name="footer-links">
            <a:extLst xmlns:a="http://schemas.openxmlformats.org/drawingml/2006/main">
              <a:ext uri="{FF2B5EF4-FFF2-40B4-BE49-F238E27FC236}">
                <a16:creationId xmlns:a16="http://schemas.microsoft.com/office/drawing/2014/main" id="{3CB98446-1152-45CB-975C-6D5253E6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rPr>
              <a:t>snehbavarva.com   github.com/spbavarva   linkedin.com/in/snehbavarva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C6113E0-1E0B-4996-A44C-B5892BD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04 / 05</a:t>
            </a:r>
          </a:p>
        </p:txBody>
      </p:sp>
      <p:sp>
        <p:nvSpPr>
          <p:cNvPr id="7" name="rec-bh-surface">
            <a:extLst xmlns:a="http://schemas.openxmlformats.org/drawingml/2006/main">
              <a:ext uri="{FF2B5EF4-FFF2-40B4-BE49-F238E27FC236}">
                <a16:creationId xmlns:a16="http://schemas.microsoft.com/office/drawing/2014/main" id="{E1E0270D-1FA5-4569-B5A3-6380382C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1828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</p:sp>
      <p:sp>
        <p:nvSpPr>
          <p:cNvPr id="8" name="rec-bh-icon-circle">
            <a:extLst xmlns:a="http://schemas.openxmlformats.org/drawingml/2006/main">
              <a:ext uri="{FF2B5EF4-FFF2-40B4-BE49-F238E27FC236}">
                <a16:creationId xmlns:a16="http://schemas.microsoft.com/office/drawing/2014/main" id="{441CA250-8056-48E0-B2D5-F882679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9" name="rec-bh-icon-glyph">
            <a:extLst xmlns:a="http://schemas.openxmlformats.org/drawingml/2006/main">
              <a:ext uri="{FF2B5EF4-FFF2-40B4-BE49-F238E27FC236}">
                <a16:creationId xmlns:a16="http://schemas.microsoft.com/office/drawing/2014/main" id="{A6E5AF0D-F162-42A4-85CA-1FB5D1D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6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BH</a:t>
            </a:r>
          </a:p>
        </p:txBody>
      </p:sp>
      <p:sp>
        <p:nvSpPr>
          <p:cNvPr id="10" name="rec-bh-top">
            <a:extLst xmlns:a="http://schemas.openxmlformats.org/drawingml/2006/main">
              <a:ext uri="{FF2B5EF4-FFF2-40B4-BE49-F238E27FC236}">
                <a16:creationId xmlns:a16="http://schemas.microsoft.com/office/drawing/2014/main" id="{701C9D50-9F57-4EE6-9A91-2A1F6DBA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443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SCHOLAR SELECTION</a:t>
            </a:r>
          </a:p>
        </p:txBody>
      </p:sp>
      <p:sp>
        <p:nvSpPr>
          <p:cNvPr id="11" name="rec-bh-main">
            <a:extLst xmlns:a="http://schemas.openxmlformats.org/drawingml/2006/main">
              <a:ext uri="{FF2B5EF4-FFF2-40B4-BE49-F238E27FC236}">
                <a16:creationId xmlns:a16="http://schemas.microsoft.com/office/drawing/2014/main" id="{FEB9F35C-CB69-458D-B365-56692F9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21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Black Hat 2025 Scholar</a:t>
            </a:r>
          </a:p>
        </p:txBody>
      </p:sp>
      <p:sp>
        <p:nvSpPr>
          <p:cNvPr id="12" name="rec-bh-sub">
            <a:extLst xmlns:a="http://schemas.openxmlformats.org/drawingml/2006/main">
              <a:ext uri="{FF2B5EF4-FFF2-40B4-BE49-F238E27FC236}">
                <a16:creationId xmlns:a16="http://schemas.microsoft.com/office/drawing/2014/main" id="{732048D2-9FA5-42DA-BCBB-58FAC58E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9AA9BC"/>
                </a:solidFill>
                <a:latin typeface="Aptos"/>
                <a:ea typeface="Aptos"/>
                <a:cs typeface="Aptos"/>
              </a:rPr>
              <a:t>1 of 8 globally</a:t>
            </a:r>
          </a:p>
        </p:txBody>
      </p:sp>
      <p:sp>
        <p:nvSpPr>
          <p:cNvPr id="13" name="rec-offsec-surface">
            <a:extLst xmlns:a="http://schemas.openxmlformats.org/drawingml/2006/main">
              <a:ext uri="{FF2B5EF4-FFF2-40B4-BE49-F238E27FC236}">
                <a16:creationId xmlns:a16="http://schemas.microsoft.com/office/drawing/2014/main" id="{92225F00-F74D-42A3-AB86-858E58CA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5257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1828"/>
          </a:solidFill>
          <a:ln xmlns:a="http://schemas.openxmlformats.org/drawingml/2006/main" w="9525">
            <a:solidFill>
              <a:srgbClr val="12364B"/>
            </a:solidFill>
            <a:prstDash val="solid"/>
          </a:ln>
        </p:spPr>
      </p:sp>
      <p:sp>
        <p:nvSpPr>
          <p:cNvPr id="14" name="rec-offsec-icon-circle">
            <a:extLst xmlns:a="http://schemas.openxmlformats.org/drawingml/2006/main">
              <a:ext uri="{FF2B5EF4-FFF2-40B4-BE49-F238E27FC236}">
                <a16:creationId xmlns:a16="http://schemas.microsoft.com/office/drawing/2014/main" id="{469B1DDC-E040-4694-B64A-37AA6A0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33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15" name="rec-offsec-icon-glyph">
            <a:extLst xmlns:a="http://schemas.openxmlformats.org/drawingml/2006/main">
              <a:ext uri="{FF2B5EF4-FFF2-40B4-BE49-F238E27FC236}">
                <a16:creationId xmlns:a16="http://schemas.microsoft.com/office/drawing/2014/main" id="{30BB369D-713A-462B-A1C8-65E6641C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36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#1</a:t>
            </a:r>
          </a:p>
        </p:txBody>
      </p:sp>
      <p:sp>
        <p:nvSpPr>
          <p:cNvPr id="16" name="rec-offsec-top">
            <a:extLst xmlns:a="http://schemas.openxmlformats.org/drawingml/2006/main">
              <a:ext uri="{FF2B5EF4-FFF2-40B4-BE49-F238E27FC236}">
                <a16:creationId xmlns:a16="http://schemas.microsoft.com/office/drawing/2014/main" id="{54D0B973-C74C-49E1-90E5-9CB0A730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443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COMPETITION</a:t>
            </a:r>
          </a:p>
        </p:txBody>
      </p:sp>
      <p:sp>
        <p:nvSpPr>
          <p:cNvPr id="17" name="rec-offsec-main">
            <a:extLst xmlns:a="http://schemas.openxmlformats.org/drawingml/2006/main">
              <a:ext uri="{FF2B5EF4-FFF2-40B4-BE49-F238E27FC236}">
                <a16:creationId xmlns:a16="http://schemas.microsoft.com/office/drawing/2014/main" id="{49094131-0844-40D4-A638-3A1110F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21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OffSec Gauntlet</a:t>
            </a:r>
          </a:p>
        </p:txBody>
      </p:sp>
      <p:sp>
        <p:nvSpPr>
          <p:cNvPr id="18" name="rec-offsec-sub">
            <a:extLst xmlns:a="http://schemas.openxmlformats.org/drawingml/2006/main">
              <a:ext uri="{FF2B5EF4-FFF2-40B4-BE49-F238E27FC236}">
                <a16:creationId xmlns:a16="http://schemas.microsoft.com/office/drawing/2014/main" id="{3A4CA1ED-FE19-4CBB-9F01-6F50155A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81325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9AA9BC"/>
                </a:solidFill>
                <a:latin typeface="Aptos"/>
                <a:ea typeface="Aptos"/>
                <a:cs typeface="Aptos"/>
              </a:rPr>
              <a:t>#1 Worldwide</a:t>
            </a:r>
          </a:p>
        </p:txBody>
      </p:sp>
      <p:sp>
        <p:nvSpPr>
          <p:cNvPr id="19" name="rec-fwd-surface">
            <a:extLst xmlns:a="http://schemas.openxmlformats.org/drawingml/2006/main">
              <a:ext uri="{FF2B5EF4-FFF2-40B4-BE49-F238E27FC236}">
                <a16:creationId xmlns:a16="http://schemas.microsoft.com/office/drawing/2014/main" id="{6BD38F88-9FC3-454C-809A-B14BA309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390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20" name="rec-fwd-icon-circle">
            <a:extLst xmlns:a="http://schemas.openxmlformats.org/drawingml/2006/main">
              <a:ext uri="{FF2B5EF4-FFF2-40B4-BE49-F238E27FC236}">
                <a16:creationId xmlns:a16="http://schemas.microsoft.com/office/drawing/2014/main" id="{5D66B2A7-7B95-41D4-9B8F-70A05C52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21" name="rec-fwd-icon-glyph">
            <a:extLst xmlns:a="http://schemas.openxmlformats.org/drawingml/2006/main">
              <a:ext uri="{FF2B5EF4-FFF2-40B4-BE49-F238E27FC236}">
                <a16:creationId xmlns:a16="http://schemas.microsoft.com/office/drawing/2014/main" id="{267E6C4A-6423-45E6-8FE5-414969F2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FC</a:t>
            </a:r>
          </a:p>
        </p:txBody>
      </p:sp>
      <p:sp>
        <p:nvSpPr>
          <p:cNvPr id="22" name="rec-fwd-top">
            <a:extLst xmlns:a="http://schemas.openxmlformats.org/drawingml/2006/main">
              <a:ext uri="{FF2B5EF4-FFF2-40B4-BE49-F238E27FC236}">
                <a16:creationId xmlns:a16="http://schemas.microsoft.com/office/drawing/2014/main" id="{ABFF02DB-22DD-49F2-BD58-625858A9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385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CLOUD SECURITY</a:t>
            </a:r>
          </a:p>
        </p:txBody>
      </p:sp>
      <p:sp>
        <p:nvSpPr>
          <p:cNvPr id="23" name="rec-fwd-main">
            <a:extLst xmlns:a="http://schemas.openxmlformats.org/drawingml/2006/main">
              <a:ext uri="{FF2B5EF4-FFF2-40B4-BE49-F238E27FC236}">
                <a16:creationId xmlns:a16="http://schemas.microsoft.com/office/drawing/2014/main" id="{6811D512-DBA0-4D56-A110-B1E3EDCA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16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fwd:cloudsec 2025</a:t>
            </a:r>
          </a:p>
        </p:txBody>
      </p:sp>
      <p:sp>
        <p:nvSpPr>
          <p:cNvPr id="24" name="rec-fwd-sub">
            <a:extLst xmlns:a="http://schemas.openxmlformats.org/drawingml/2006/main">
              <a:ext uri="{FF2B5EF4-FFF2-40B4-BE49-F238E27FC236}">
                <a16:creationId xmlns:a16="http://schemas.microsoft.com/office/drawing/2014/main" id="{7E2C48E3-173A-4646-A7CA-AC4F639A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9AA9BC"/>
                </a:solidFill>
                <a:latin typeface="Aptos"/>
                <a:ea typeface="Aptos"/>
                <a:cs typeface="Aptos"/>
              </a:rPr>
              <a:t>Cloud-security scholar</a:t>
            </a:r>
          </a:p>
        </p:txBody>
      </p:sp>
      <p:sp>
        <p:nvSpPr>
          <p:cNvPr id="25" name="rec-htb-surface">
            <a:extLst xmlns:a="http://schemas.openxmlformats.org/drawingml/2006/main">
              <a:ext uri="{FF2B5EF4-FFF2-40B4-BE49-F238E27FC236}">
                <a16:creationId xmlns:a16="http://schemas.microsoft.com/office/drawing/2014/main" id="{0E221709-C3A8-48B1-A89C-6759AD98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48075"/>
            <a:ext cx="3390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26" name="rec-htb-icon-circle">
            <a:extLst xmlns:a="http://schemas.openxmlformats.org/drawingml/2006/main">
              <a:ext uri="{FF2B5EF4-FFF2-40B4-BE49-F238E27FC236}">
                <a16:creationId xmlns:a16="http://schemas.microsoft.com/office/drawing/2014/main" id="{82C318FD-E277-4E65-8D1F-5B866FF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9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27" name="rec-htb-icon-glyph">
            <a:extLst xmlns:a="http://schemas.openxmlformats.org/drawingml/2006/main">
              <a:ext uri="{FF2B5EF4-FFF2-40B4-BE49-F238E27FC236}">
                <a16:creationId xmlns:a16="http://schemas.microsoft.com/office/drawing/2014/main" id="{9F9081D3-7EC2-4ABF-98BC-FB1490DF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HTB</a:t>
            </a:r>
          </a:p>
        </p:txBody>
      </p:sp>
      <p:sp>
        <p:nvSpPr>
          <p:cNvPr id="28" name="rec-htb-top">
            <a:extLst xmlns:a="http://schemas.openxmlformats.org/drawingml/2006/main">
              <a:ext uri="{FF2B5EF4-FFF2-40B4-BE49-F238E27FC236}">
                <a16:creationId xmlns:a16="http://schemas.microsoft.com/office/drawing/2014/main" id="{8E012390-67D3-4FD7-98C1-B6A4BB09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385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GLOBAL RANK</a:t>
            </a:r>
          </a:p>
        </p:txBody>
      </p:sp>
      <p:sp>
        <p:nvSpPr>
          <p:cNvPr id="29" name="rec-htb-main">
            <a:extLst xmlns:a="http://schemas.openxmlformats.org/drawingml/2006/main">
              <a:ext uri="{FF2B5EF4-FFF2-40B4-BE49-F238E27FC236}">
                <a16:creationId xmlns:a16="http://schemas.microsoft.com/office/drawing/2014/main" id="{CDB9100E-8721-40B7-B20D-E5BF14C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16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HTB Season 8</a:t>
            </a:r>
          </a:p>
        </p:txBody>
      </p:sp>
      <p:sp>
        <p:nvSpPr>
          <p:cNvPr id="30" name="rec-htb-sub">
            <a:extLst xmlns:a="http://schemas.openxmlformats.org/drawingml/2006/main">
              <a:ext uri="{FF2B5EF4-FFF2-40B4-BE49-F238E27FC236}">
                <a16:creationId xmlns:a16="http://schemas.microsoft.com/office/drawing/2014/main" id="{715E7C8F-C569-4790-BDCF-570A1FED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67225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9AA9BC"/>
                </a:solidFill>
                <a:latin typeface="Aptos"/>
                <a:ea typeface="Aptos"/>
                <a:cs typeface="Aptos"/>
              </a:rPr>
              <a:t>Global #144</a:t>
            </a:r>
          </a:p>
        </p:txBody>
      </p:sp>
      <p:sp>
        <p:nvSpPr>
          <p:cNvPr id="31" name="rec-h1-surface">
            <a:extLst xmlns:a="http://schemas.openxmlformats.org/drawingml/2006/main">
              <a:ext uri="{FF2B5EF4-FFF2-40B4-BE49-F238E27FC236}">
                <a16:creationId xmlns:a16="http://schemas.microsoft.com/office/drawing/2014/main" id="{FF703C40-9414-41A9-B204-30514175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3390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32" name="rec-h1-icon-circle">
            <a:extLst xmlns:a="http://schemas.openxmlformats.org/drawingml/2006/main">
              <a:ext uri="{FF2B5EF4-FFF2-40B4-BE49-F238E27FC236}">
                <a16:creationId xmlns:a16="http://schemas.microsoft.com/office/drawing/2014/main" id="{3EBCA6ED-E4F6-4338-AE77-FC410293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9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33" name="rec-h1-icon-glyph">
            <a:extLst xmlns:a="http://schemas.openxmlformats.org/drawingml/2006/main">
              <a:ext uri="{FF2B5EF4-FFF2-40B4-BE49-F238E27FC236}">
                <a16:creationId xmlns:a16="http://schemas.microsoft.com/office/drawing/2014/main" id="{A5484BDF-596D-4B04-973E-3335A07D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CTF</a:t>
            </a:r>
          </a:p>
        </p:txBody>
      </p:sp>
      <p:sp>
        <p:nvSpPr>
          <p:cNvPr id="34" name="rec-h1-top">
            <a:extLst xmlns:a="http://schemas.openxmlformats.org/drawingml/2006/main">
              <a:ext uri="{FF2B5EF4-FFF2-40B4-BE49-F238E27FC236}">
                <a16:creationId xmlns:a16="http://schemas.microsoft.com/office/drawing/2014/main" id="{D3764B71-58D5-463E-9022-A3AD3767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385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CAPTURE THE FLAG</a:t>
            </a:r>
          </a:p>
        </p:txBody>
      </p:sp>
      <p:sp>
        <p:nvSpPr>
          <p:cNvPr id="35" name="rec-h1-main">
            <a:extLst xmlns:a="http://schemas.openxmlformats.org/drawingml/2006/main">
              <a:ext uri="{FF2B5EF4-FFF2-40B4-BE49-F238E27FC236}">
                <a16:creationId xmlns:a16="http://schemas.microsoft.com/office/drawing/2014/main" id="{753C7216-2478-4F53-819D-99BA615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16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Amazon × HackerOne</a:t>
            </a:r>
          </a:p>
        </p:txBody>
      </p:sp>
      <p:sp>
        <p:nvSpPr>
          <p:cNvPr id="36" name="rec-h1-sub">
            <a:extLst xmlns:a="http://schemas.openxmlformats.org/drawingml/2006/main">
              <a:ext uri="{FF2B5EF4-FFF2-40B4-BE49-F238E27FC236}">
                <a16:creationId xmlns:a16="http://schemas.microsoft.com/office/drawing/2014/main" id="{C6C5EF1D-3571-42FD-8365-4C8BD30F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67225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9AA9BC"/>
                </a:solidFill>
                <a:latin typeface="Aptos"/>
                <a:ea typeface="Aptos"/>
                <a:cs typeface="Aptos"/>
              </a:rPr>
              <a:t>Top 3</a:t>
            </a:r>
          </a:p>
        </p:txBody>
      </p:sp>
      <p:sp>
        <p:nvSpPr>
          <p:cNvPr id="37" name="rec-claude-surface">
            <a:extLst xmlns:a="http://schemas.openxmlformats.org/drawingml/2006/main">
              <a:ext uri="{FF2B5EF4-FFF2-40B4-BE49-F238E27FC236}">
                <a16:creationId xmlns:a16="http://schemas.microsoft.com/office/drawing/2014/main" id="{391074A4-9DA3-49A5-B939-8F885B2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3390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38" name="rec-claude-icon-circle">
            <a:extLst xmlns:a="http://schemas.openxmlformats.org/drawingml/2006/main">
              <a:ext uri="{FF2B5EF4-FFF2-40B4-BE49-F238E27FC236}">
                <a16:creationId xmlns:a16="http://schemas.microsoft.com/office/drawing/2014/main" id="{007445BF-BF58-46F6-A9C7-8863FFE1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34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39" name="rec-claude-icon-glyph">
            <a:extLst xmlns:a="http://schemas.openxmlformats.org/drawingml/2006/main">
              <a:ext uri="{FF2B5EF4-FFF2-40B4-BE49-F238E27FC236}">
                <a16:creationId xmlns:a16="http://schemas.microsoft.com/office/drawing/2014/main" id="{58B02971-C250-4BA5-912E-F6405E3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AI</a:t>
            </a:r>
          </a:p>
        </p:txBody>
      </p:sp>
      <p:sp>
        <p:nvSpPr>
          <p:cNvPr id="40" name="rec-claude-top">
            <a:extLst xmlns:a="http://schemas.openxmlformats.org/drawingml/2006/main">
              <a:ext uri="{FF2B5EF4-FFF2-40B4-BE49-F238E27FC236}">
                <a16:creationId xmlns:a16="http://schemas.microsoft.com/office/drawing/2014/main" id="{CDFFFF73-720A-4497-A66B-A7058594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735" b="1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COMMUNITY</a:t>
            </a:r>
          </a:p>
        </p:txBody>
      </p:sp>
      <p:sp>
        <p:nvSpPr>
          <p:cNvPr id="41" name="rec-claude-main">
            <a:extLst xmlns:a="http://schemas.openxmlformats.org/drawingml/2006/main">
              <a:ext uri="{FF2B5EF4-FFF2-40B4-BE49-F238E27FC236}">
                <a16:creationId xmlns:a16="http://schemas.microsoft.com/office/drawing/2014/main" id="{B237B093-6954-4555-859E-C015765B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387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Claude Builder Club</a:t>
            </a:r>
          </a:p>
        </p:txBody>
      </p:sp>
      <p:sp>
        <p:nvSpPr>
          <p:cNvPr id="42" name="rec-claude-sub">
            <a:extLst xmlns:a="http://schemas.openxmlformats.org/drawingml/2006/main">
              <a:ext uri="{FF2B5EF4-FFF2-40B4-BE49-F238E27FC236}">
                <a16:creationId xmlns:a16="http://schemas.microsoft.com/office/drawing/2014/main" id="{DBBE70ED-16A8-426D-9660-353A02C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67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AA9BC"/>
                </a:solidFill>
                <a:latin typeface="Aptos"/>
                <a:ea typeface="Aptos"/>
                <a:cs typeface="Aptos"/>
              </a:rPr>
              <a:t>Hackathon Judge</a:t>
            </a:r>
          </a:p>
        </p:txBody>
      </p:sp>
      <p:sp>
        <p:nvSpPr>
          <p:cNvPr id="43" name="recognition-side-note">
            <a:extLst xmlns:a="http://schemas.openxmlformats.org/drawingml/2006/main">
              <a:ext uri="{FF2B5EF4-FFF2-40B4-BE49-F238E27FC236}">
                <a16:creationId xmlns:a16="http://schemas.microsoft.com/office/drawing/2014/main" id="{C36204D0-0136-4003-88A0-63C3B102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390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5354B"/>
            </a:solidFill>
            <a:prstDash val="solid"/>
          </a:ln>
        </p:spPr>
      </p:sp>
      <p:sp>
        <p:nvSpPr>
          <p:cNvPr id="44" name="rec-next-icon-circle">
            <a:extLst xmlns:a="http://schemas.openxmlformats.org/drawingml/2006/main">
              <a:ext uri="{FF2B5EF4-FFF2-40B4-BE49-F238E27FC236}">
                <a16:creationId xmlns:a16="http://schemas.microsoft.com/office/drawing/2014/main" id="{A4B9DD9F-30D5-4B4D-8B36-0D7B9870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244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45" name="rec-next-icon-glyph">
            <a:extLst xmlns:a="http://schemas.openxmlformats.org/drawingml/2006/main">
              <a:ext uri="{FF2B5EF4-FFF2-40B4-BE49-F238E27FC236}">
                <a16:creationId xmlns:a16="http://schemas.microsoft.com/office/drawing/2014/main" id="{B01DFB0D-B76D-4CD4-A43A-F0930E8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3400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&gt;</a:t>
            </a:r>
          </a:p>
        </p:txBody>
      </p:sp>
      <p:sp>
        <p:nvSpPr>
          <p:cNvPr id="46" name="recognition-side-copy">
            <a:extLst xmlns:a="http://schemas.openxmlformats.org/drawingml/2006/main">
              <a:ext uri="{FF2B5EF4-FFF2-40B4-BE49-F238E27FC236}">
                <a16:creationId xmlns:a16="http://schemas.microsoft.com/office/drawing/2014/main" id="{3A3AB607-50F2-4D5A-A044-1345D860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57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458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990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9AA9BC"/>
                </a:solidFill>
                <a:latin typeface="Aptos"/>
                <a:ea typeface="Aptos"/>
                <a:cs typeface="Aptos"/>
              </a:rPr>
              <a:t>Prepared to discuss tradeoffs, methodology, and repeatability behind each signal.</a:t>
            </a:r>
          </a:p>
        </p:txBody>
      </p:sp>
    </p:spTree>
    <p:extLst>
      <p:ext uri="{BB962C8B-B14F-4D97-AF65-F5344CB8AC3E}">
        <p14:creationId xmlns:p14="http://schemas.microsoft.com/office/powerpoint/2010/main" val="1201324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0B0DBA3-456E-47D0-BEC0-40A02D5D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19D3FF"/>
                </a:solidFill>
                <a:latin typeface="Courier New"/>
                <a:ea typeface="Courier New"/>
                <a:cs typeface="Courier New"/>
              </a:rPr>
              <a:t>APPENDIX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4E4C94-9757-4A59-9607-1EDA1EBE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All 11 CVEs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DBC84FE-8D06-44DA-AC84-383FD2B2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9AA9BC"/>
                </a:solidFill>
                <a:latin typeface="Aptos"/>
                <a:ea typeface="Aptos"/>
                <a:cs typeface="Aptos"/>
              </a:rPr>
              <a:t>Grouped by project; severity color-coded by CVSS band.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9A3631B-09DC-4350-A151-1048BAAF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5" name="footer-links">
            <a:extLst xmlns:a="http://schemas.openxmlformats.org/drawingml/2006/main">
              <a:ext uri="{FF2B5EF4-FFF2-40B4-BE49-F238E27FC236}">
                <a16:creationId xmlns:a16="http://schemas.microsoft.com/office/drawing/2014/main" id="{8483B638-E411-422E-8DD8-CC9CC426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9AA9BC"/>
                </a:solidFill>
                <a:latin typeface="Courier New"/>
                <a:ea typeface="Courier New"/>
                <a:cs typeface="Courier New"/>
              </a:rPr>
              <a:t>snehbavarva.com   github.com/spbavarva   linkedin.com/in/snehbavarva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09328C2-FE52-4F55-A5B0-0CFDF235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defRPr>
            </a:pPr>
            <a:r>
              <a:rPr sz="825">
                <a:solidFill>
                  <a:srgbClr val="708198"/>
                </a:solidFill>
                <a:latin typeface="Courier New"/>
                <a:ea typeface="Courier New"/>
                <a:cs typeface="Courier New"/>
              </a:rPr>
              <a:t>05 / 05</a:t>
            </a:r>
          </a:p>
        </p:txBody>
      </p:sp>
      <p:sp>
        <p:nvSpPr>
          <p:cNvPr id="7" name="legend-critical">
            <a:extLst xmlns:a="http://schemas.openxmlformats.org/drawingml/2006/main">
              <a:ext uri="{FF2B5EF4-FFF2-40B4-BE49-F238E27FC236}">
                <a16:creationId xmlns:a16="http://schemas.microsoft.com/office/drawing/2014/main" id="{ADE1A2C2-519B-4F6A-83F3-7999C1E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38200"/>
            <a:ext cx="7048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3B4F">
              <a:alpha val="16000"/>
            </a:srgbClr>
          </a:solidFill>
          <a:ln xmlns:a="http://schemas.openxmlformats.org/drawingml/2006/main" w="9525">
            <a:solidFill>
              <a:srgbClr val="FF3B4F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rPr>
              <a:t>CRITICAL</a:t>
            </a:r>
          </a:p>
        </p:txBody>
      </p:sp>
      <p:sp>
        <p:nvSpPr>
          <p:cNvPr id="8" name="legend-high">
            <a:extLst xmlns:a="http://schemas.openxmlformats.org/drawingml/2006/main">
              <a:ext uri="{FF2B5EF4-FFF2-40B4-BE49-F238E27FC236}">
                <a16:creationId xmlns:a16="http://schemas.microsoft.com/office/drawing/2014/main" id="{D6DB90C3-4589-44CB-AD12-2460E41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38200"/>
            <a:ext cx="5143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A00">
              <a:alpha val="16000"/>
            </a:srgbClr>
          </a:solidFill>
          <a:ln xmlns:a="http://schemas.openxmlformats.org/drawingml/2006/main" w="9525">
            <a:solidFill>
              <a:srgbClr val="FF8A00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8A0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8A00"/>
                </a:solidFill>
                <a:latin typeface="Courier New"/>
                <a:ea typeface="Courier New"/>
                <a:cs typeface="Courier New"/>
              </a:rPr>
              <a:t>HIGH</a:t>
            </a:r>
          </a:p>
        </p:txBody>
      </p:sp>
      <p:sp>
        <p:nvSpPr>
          <p:cNvPr id="9" name="legend-medium">
            <a:extLst xmlns:a="http://schemas.openxmlformats.org/drawingml/2006/main">
              <a:ext uri="{FF2B5EF4-FFF2-40B4-BE49-F238E27FC236}">
                <a16:creationId xmlns:a16="http://schemas.microsoft.com/office/drawing/2014/main" id="{D6736A8A-0329-4321-B148-09DDBA4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38200"/>
            <a:ext cx="4572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MED</a:t>
            </a:r>
          </a:p>
        </p:txBody>
      </p:sp>
      <p:sp>
        <p:nvSpPr>
          <p:cNvPr id="10" name="legend-low">
            <a:extLst xmlns:a="http://schemas.openxmlformats.org/drawingml/2006/main">
              <a:ext uri="{FF2B5EF4-FFF2-40B4-BE49-F238E27FC236}">
                <a16:creationId xmlns:a16="http://schemas.microsoft.com/office/drawing/2014/main" id="{1D7174D4-971E-40DA-AFE6-0DAAEC92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838200"/>
            <a:ext cx="4572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8792A2">
              <a:alpha val="16000"/>
            </a:srgbClr>
          </a:solidFill>
          <a:ln xmlns:a="http://schemas.openxmlformats.org/drawingml/2006/main" w="9525">
            <a:solidFill>
              <a:srgbClr val="8792A2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92A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792A2"/>
                </a:solidFill>
                <a:latin typeface="Courier New"/>
                <a:ea typeface="Courier New"/>
                <a:cs typeface="Courier New"/>
              </a:rPr>
              <a:t>LOW</a:t>
            </a:r>
          </a:p>
        </p:txBody>
      </p:sp>
      <p:sp>
        <p:nvSpPr>
          <p:cNvPr id="11" name="app-vm2-surface">
            <a:extLst xmlns:a="http://schemas.openxmlformats.org/drawingml/2006/main">
              <a:ext uri="{FF2B5EF4-FFF2-40B4-BE49-F238E27FC236}">
                <a16:creationId xmlns:a16="http://schemas.microsoft.com/office/drawing/2014/main" id="{E52D3CDB-5BD2-413D-BE61-76B21D1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3340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12" name="app-vm2-count-circle">
            <a:extLst xmlns:a="http://schemas.openxmlformats.org/drawingml/2006/main">
              <a:ext uri="{FF2B5EF4-FFF2-40B4-BE49-F238E27FC236}">
                <a16:creationId xmlns:a16="http://schemas.microsoft.com/office/drawing/2014/main" id="{3B56025C-8B0A-4CE8-A414-BA953804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13" name="app-vm2-count-glyph">
            <a:extLst xmlns:a="http://schemas.openxmlformats.org/drawingml/2006/main">
              <a:ext uri="{FF2B5EF4-FFF2-40B4-BE49-F238E27FC236}">
                <a16:creationId xmlns:a16="http://schemas.microsoft.com/office/drawing/2014/main" id="{5389AAD6-996A-4F6D-BAC5-A003D7AC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4" name="app-vm2-title">
            <a:extLst xmlns:a="http://schemas.openxmlformats.org/drawingml/2006/main">
              <a:ext uri="{FF2B5EF4-FFF2-40B4-BE49-F238E27FC236}">
                <a16:creationId xmlns:a16="http://schemas.microsoft.com/office/drawing/2014/main" id="{DD175489-0674-4D63-A502-456F3117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52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vm2</a:t>
            </a:r>
          </a:p>
        </p:txBody>
      </p:sp>
      <p:sp>
        <p:nvSpPr>
          <p:cNvPr id="15" name="app-vm2-row-0-dot">
            <a:extLst xmlns:a="http://schemas.openxmlformats.org/drawingml/2006/main">
              <a:ext uri="{FF2B5EF4-FFF2-40B4-BE49-F238E27FC236}">
                <a16:creationId xmlns:a16="http://schemas.microsoft.com/office/drawing/2014/main" id="{18556A58-A9CA-45F2-ADC3-4A396F6E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4F"/>
          </a:solidFill>
          <a:ln xmlns:a="http://schemas.openxmlformats.org/drawingml/2006/main" w="9525">
            <a:solidFill>
              <a:srgbClr val="FF3B4F"/>
            </a:solidFill>
            <a:prstDash val="solid"/>
          </a:ln>
        </p:spPr>
      </p:sp>
      <p:sp>
        <p:nvSpPr>
          <p:cNvPr id="16" name="app-vm2-row-0-id">
            <a:extLst xmlns:a="http://schemas.openxmlformats.org/drawingml/2006/main">
              <a:ext uri="{FF2B5EF4-FFF2-40B4-BE49-F238E27FC236}">
                <a16:creationId xmlns:a16="http://schemas.microsoft.com/office/drawing/2014/main" id="{B5C5196A-4512-4A9A-89E9-0C571FD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CVE-2026-47140</a:t>
            </a:r>
          </a:p>
        </p:txBody>
      </p:sp>
      <p:sp>
        <p:nvSpPr>
          <p:cNvPr id="17" name="app-vm2-row-0-score">
            <a:extLst xmlns:a="http://schemas.openxmlformats.org/drawingml/2006/main">
              <a:ext uri="{FF2B5EF4-FFF2-40B4-BE49-F238E27FC236}">
                <a16:creationId xmlns:a16="http://schemas.microsoft.com/office/drawing/2014/main" id="{336DDA4B-FB8D-4370-9897-6232624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4787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3B4F">
              <a:alpha val="16000"/>
            </a:srgbClr>
          </a:solidFill>
          <a:ln xmlns:a="http://schemas.openxmlformats.org/drawingml/2006/main" w="9525">
            <a:solidFill>
              <a:srgbClr val="FF3B4F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rPr>
              <a:t>10.0</a:t>
            </a:r>
          </a:p>
        </p:txBody>
      </p:sp>
      <p:sp>
        <p:nvSpPr>
          <p:cNvPr id="18" name="app-vm2-row-0-desc">
            <a:extLst xmlns:a="http://schemas.openxmlformats.org/drawingml/2006/main">
              <a:ext uri="{FF2B5EF4-FFF2-40B4-BE49-F238E27FC236}">
                <a16:creationId xmlns:a16="http://schemas.microsoft.com/office/drawing/2014/main" id="{279DFB29-7845-437F-92E1-8CEF17D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sandbox escape → RCE</a:t>
            </a:r>
          </a:p>
        </p:txBody>
      </p:sp>
      <p:sp>
        <p:nvSpPr>
          <p:cNvPr id="19" name="app-vm2-row-1-dot">
            <a:extLst xmlns:a="http://schemas.openxmlformats.org/drawingml/2006/main">
              <a:ext uri="{FF2B5EF4-FFF2-40B4-BE49-F238E27FC236}">
                <a16:creationId xmlns:a16="http://schemas.microsoft.com/office/drawing/2014/main" id="{75FBB48D-BFE6-410C-AEA1-2E621192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9525">
            <a:solidFill>
              <a:srgbClr val="FF8A00"/>
            </a:solidFill>
            <a:prstDash val="solid"/>
          </a:ln>
        </p:spPr>
      </p:sp>
      <p:sp>
        <p:nvSpPr>
          <p:cNvPr id="20" name="app-vm2-row-1-id">
            <a:extLst xmlns:a="http://schemas.openxmlformats.org/drawingml/2006/main">
              <a:ext uri="{FF2B5EF4-FFF2-40B4-BE49-F238E27FC236}">
                <a16:creationId xmlns:a16="http://schemas.microsoft.com/office/drawing/2014/main" id="{42927C23-6296-4761-B8F4-FC037760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CVE-2026-47139</a:t>
            </a:r>
          </a:p>
        </p:txBody>
      </p:sp>
      <p:sp>
        <p:nvSpPr>
          <p:cNvPr id="21" name="app-vm2-row-1-score">
            <a:extLst xmlns:a="http://schemas.openxmlformats.org/drawingml/2006/main">
              <a:ext uri="{FF2B5EF4-FFF2-40B4-BE49-F238E27FC236}">
                <a16:creationId xmlns:a16="http://schemas.microsoft.com/office/drawing/2014/main" id="{469A2E9D-F234-439F-A5CE-09A41E0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3362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A00">
              <a:alpha val="16000"/>
            </a:srgbClr>
          </a:solidFill>
          <a:ln xmlns:a="http://schemas.openxmlformats.org/drawingml/2006/main" w="9525">
            <a:solidFill>
              <a:srgbClr val="FF8A00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8A0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8A00"/>
                </a:solidFill>
                <a:latin typeface="Courier New"/>
                <a:ea typeface="Courier New"/>
                <a:cs typeface="Courier New"/>
              </a:rPr>
              <a:t>8.6</a:t>
            </a:r>
          </a:p>
        </p:txBody>
      </p:sp>
      <p:sp>
        <p:nvSpPr>
          <p:cNvPr id="22" name="app-vm2-row-1-desc">
            <a:extLst xmlns:a="http://schemas.openxmlformats.org/drawingml/2006/main">
              <a:ext uri="{FF2B5EF4-FFF2-40B4-BE49-F238E27FC236}">
                <a16:creationId xmlns:a16="http://schemas.microsoft.com/office/drawing/2014/main" id="{2C363DBB-47B8-4B99-B62E-C573119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network policy bypass</a:t>
            </a:r>
          </a:p>
        </p:txBody>
      </p:sp>
      <p:sp>
        <p:nvSpPr>
          <p:cNvPr id="23" name="app-vm2-row-2-dot">
            <a:extLst xmlns:a="http://schemas.openxmlformats.org/drawingml/2006/main">
              <a:ext uri="{FF2B5EF4-FFF2-40B4-BE49-F238E27FC236}">
                <a16:creationId xmlns:a16="http://schemas.microsoft.com/office/drawing/2014/main" id="{0457583B-7EBA-410A-8399-6CA53623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24" name="app-vm2-row-2-id">
            <a:extLst xmlns:a="http://schemas.openxmlformats.org/drawingml/2006/main">
              <a:ext uri="{FF2B5EF4-FFF2-40B4-BE49-F238E27FC236}">
                <a16:creationId xmlns:a16="http://schemas.microsoft.com/office/drawing/2014/main" id="{A76C9C5B-D89D-493C-B752-A0D7C77F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CVE-2026-47141</a:t>
            </a:r>
          </a:p>
        </p:txBody>
      </p:sp>
      <p:sp>
        <p:nvSpPr>
          <p:cNvPr id="25" name="app-vm2-row-2-score">
            <a:extLst xmlns:a="http://schemas.openxmlformats.org/drawingml/2006/main">
              <a:ext uri="{FF2B5EF4-FFF2-40B4-BE49-F238E27FC236}">
                <a16:creationId xmlns:a16="http://schemas.microsoft.com/office/drawing/2014/main" id="{62D868E3-B2CF-4F55-B2F2-49B60C5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1937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Med</a:t>
            </a:r>
          </a:p>
        </p:txBody>
      </p:sp>
      <p:sp>
        <p:nvSpPr>
          <p:cNvPr id="26" name="app-vm2-row-2-desc">
            <a:extLst xmlns:a="http://schemas.openxmlformats.org/drawingml/2006/main">
              <a:ext uri="{FF2B5EF4-FFF2-40B4-BE49-F238E27FC236}">
                <a16:creationId xmlns:a16="http://schemas.microsoft.com/office/drawing/2014/main" id="{D4BE7AD9-2A66-4E51-B1D8-A657D93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host info leak</a:t>
            </a:r>
          </a:p>
        </p:txBody>
      </p:sp>
      <p:sp>
        <p:nvSpPr>
          <p:cNvPr id="27" name="app-praison-surface">
            <a:extLst xmlns:a="http://schemas.openxmlformats.org/drawingml/2006/main">
              <a:ext uri="{FF2B5EF4-FFF2-40B4-BE49-F238E27FC236}">
                <a16:creationId xmlns:a16="http://schemas.microsoft.com/office/drawing/2014/main" id="{F55C6DB4-2CFA-4794-8C3F-29646E2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38300"/>
            <a:ext cx="53340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28" name="app-praison-count-circle">
            <a:extLst xmlns:a="http://schemas.openxmlformats.org/drawingml/2006/main">
              <a:ext uri="{FF2B5EF4-FFF2-40B4-BE49-F238E27FC236}">
                <a16:creationId xmlns:a16="http://schemas.microsoft.com/office/drawing/2014/main" id="{B7528063-2520-4985-9072-94BD913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29" name="app-praison-count-glyph">
            <a:extLst xmlns:a="http://schemas.openxmlformats.org/drawingml/2006/main">
              <a:ext uri="{FF2B5EF4-FFF2-40B4-BE49-F238E27FC236}">
                <a16:creationId xmlns:a16="http://schemas.microsoft.com/office/drawing/2014/main" id="{AD4EEC0E-C5FF-4EFA-8C3A-DCB228DF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30" name="app-praison-title">
            <a:extLst xmlns:a="http://schemas.openxmlformats.org/drawingml/2006/main">
              <a:ext uri="{FF2B5EF4-FFF2-40B4-BE49-F238E27FC236}">
                <a16:creationId xmlns:a16="http://schemas.microsoft.com/office/drawing/2014/main" id="{BF5B2F1B-580A-45AA-AB77-D418BFBC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752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PraisonAI</a:t>
            </a:r>
          </a:p>
        </p:txBody>
      </p:sp>
      <p:sp>
        <p:nvSpPr>
          <p:cNvPr id="31" name="app-praison-row-0-dot">
            <a:extLst xmlns:a="http://schemas.openxmlformats.org/drawingml/2006/main">
              <a:ext uri="{FF2B5EF4-FFF2-40B4-BE49-F238E27FC236}">
                <a16:creationId xmlns:a16="http://schemas.microsoft.com/office/drawing/2014/main" id="{EA37ACAD-F36D-4868-AE96-EF0C0D2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4F"/>
          </a:solidFill>
          <a:ln xmlns:a="http://schemas.openxmlformats.org/drawingml/2006/main" w="9525">
            <a:solidFill>
              <a:srgbClr val="FF3B4F"/>
            </a:solidFill>
            <a:prstDash val="solid"/>
          </a:ln>
        </p:spPr>
      </p:sp>
      <p:sp>
        <p:nvSpPr>
          <p:cNvPr id="32" name="app-praison-row-0-id">
            <a:extLst xmlns:a="http://schemas.openxmlformats.org/drawingml/2006/main">
              <a:ext uri="{FF2B5EF4-FFF2-40B4-BE49-F238E27FC236}">
                <a16:creationId xmlns:a16="http://schemas.microsoft.com/office/drawing/2014/main" id="{5086F226-017B-4441-8768-0581467B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CVE-2026-47407</a:t>
            </a:r>
          </a:p>
        </p:txBody>
      </p:sp>
      <p:sp>
        <p:nvSpPr>
          <p:cNvPr id="33" name="app-praison-row-0-score">
            <a:extLst xmlns:a="http://schemas.openxmlformats.org/drawingml/2006/main">
              <a:ext uri="{FF2B5EF4-FFF2-40B4-BE49-F238E27FC236}">
                <a16:creationId xmlns:a16="http://schemas.microsoft.com/office/drawing/2014/main" id="{397A4975-E4DC-4CAC-890B-42C3F332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4787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3B4F">
              <a:alpha val="16000"/>
            </a:srgbClr>
          </a:solidFill>
          <a:ln xmlns:a="http://schemas.openxmlformats.org/drawingml/2006/main" w="9525">
            <a:solidFill>
              <a:srgbClr val="FF3B4F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3B4F"/>
                </a:solidFill>
                <a:latin typeface="Courier New"/>
                <a:ea typeface="Courier New"/>
                <a:cs typeface="Courier New"/>
              </a:rPr>
              <a:t>9.4</a:t>
            </a:r>
          </a:p>
        </p:txBody>
      </p:sp>
      <p:sp>
        <p:nvSpPr>
          <p:cNvPr id="34" name="app-praison-row-0-desc">
            <a:extLst xmlns:a="http://schemas.openxmlformats.org/drawingml/2006/main">
              <a:ext uri="{FF2B5EF4-FFF2-40B4-BE49-F238E27FC236}">
                <a16:creationId xmlns:a16="http://schemas.microsoft.com/office/drawing/2014/main" id="{D0F524A1-3D8E-4E6C-9F4F-5644FD01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IDOR + self-promote to admin</a:t>
            </a:r>
          </a:p>
        </p:txBody>
      </p:sp>
      <p:sp>
        <p:nvSpPr>
          <p:cNvPr id="35" name="app-praison-row-1-dot">
            <a:extLst xmlns:a="http://schemas.openxmlformats.org/drawingml/2006/main">
              <a:ext uri="{FF2B5EF4-FFF2-40B4-BE49-F238E27FC236}">
                <a16:creationId xmlns:a16="http://schemas.microsoft.com/office/drawing/2014/main" id="{ECE27C76-6FEF-44A8-81F7-E2A76F8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9525">
            <a:solidFill>
              <a:srgbClr val="FF8A00"/>
            </a:solidFill>
            <a:prstDash val="solid"/>
          </a:ln>
        </p:spPr>
      </p:sp>
      <p:sp>
        <p:nvSpPr>
          <p:cNvPr id="36" name="app-praison-row-1-id">
            <a:extLst xmlns:a="http://schemas.openxmlformats.org/drawingml/2006/main">
              <a:ext uri="{FF2B5EF4-FFF2-40B4-BE49-F238E27FC236}">
                <a16:creationId xmlns:a16="http://schemas.microsoft.com/office/drawing/2014/main" id="{8DEB10A0-903D-431E-B23F-06EBE3D6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CVE-2026-47394</a:t>
            </a:r>
          </a:p>
        </p:txBody>
      </p:sp>
      <p:sp>
        <p:nvSpPr>
          <p:cNvPr id="37" name="app-praison-row-1-score">
            <a:extLst xmlns:a="http://schemas.openxmlformats.org/drawingml/2006/main">
              <a:ext uri="{FF2B5EF4-FFF2-40B4-BE49-F238E27FC236}">
                <a16:creationId xmlns:a16="http://schemas.microsoft.com/office/drawing/2014/main" id="{E891A94D-8203-4665-BFE4-0A6C07ED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A00">
              <a:alpha val="16000"/>
            </a:srgbClr>
          </a:solidFill>
          <a:ln xmlns:a="http://schemas.openxmlformats.org/drawingml/2006/main" w="9525">
            <a:solidFill>
              <a:srgbClr val="FF8A00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8A0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8A00"/>
                </a:solidFill>
                <a:latin typeface="Courier New"/>
                <a:ea typeface="Courier New"/>
                <a:cs typeface="Courier New"/>
              </a:rPr>
              <a:t>8.7</a:t>
            </a:r>
          </a:p>
        </p:txBody>
      </p:sp>
      <p:sp>
        <p:nvSpPr>
          <p:cNvPr id="38" name="app-praison-row-1-desc">
            <a:extLst xmlns:a="http://schemas.openxmlformats.org/drawingml/2006/main">
              <a:ext uri="{FF2B5EF4-FFF2-40B4-BE49-F238E27FC236}">
                <a16:creationId xmlns:a16="http://schemas.microsoft.com/office/drawing/2014/main" id="{9C5239B2-F739-458F-899F-B5572F6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unauth file read (MCP)</a:t>
            </a:r>
          </a:p>
        </p:txBody>
      </p:sp>
      <p:sp>
        <p:nvSpPr>
          <p:cNvPr id="39" name="app-weblate-surface">
            <a:extLst xmlns:a="http://schemas.openxmlformats.org/drawingml/2006/main">
              <a:ext uri="{FF2B5EF4-FFF2-40B4-BE49-F238E27FC236}">
                <a16:creationId xmlns:a16="http://schemas.microsoft.com/office/drawing/2014/main" id="{EFFF9E4E-B4F3-4D37-9A7C-8DA42733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340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40" name="app-weblate-count-circle">
            <a:extLst xmlns:a="http://schemas.openxmlformats.org/drawingml/2006/main">
              <a:ext uri="{FF2B5EF4-FFF2-40B4-BE49-F238E27FC236}">
                <a16:creationId xmlns:a16="http://schemas.microsoft.com/office/drawing/2014/main" id="{01D797E5-F087-4DDC-AF7F-EE4EBF58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41" name="app-weblate-count-glyph">
            <a:extLst xmlns:a="http://schemas.openxmlformats.org/drawingml/2006/main">
              <a:ext uri="{FF2B5EF4-FFF2-40B4-BE49-F238E27FC236}">
                <a16:creationId xmlns:a16="http://schemas.microsoft.com/office/drawing/2014/main" id="{D2562F9E-085E-482B-A446-A75606C6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42" name="app-weblate-title">
            <a:extLst xmlns:a="http://schemas.openxmlformats.org/drawingml/2006/main">
              <a:ext uri="{FF2B5EF4-FFF2-40B4-BE49-F238E27FC236}">
                <a16:creationId xmlns:a16="http://schemas.microsoft.com/office/drawing/2014/main" id="{3E0DF7AF-37B6-4946-B9B6-B253167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00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Weblate</a:t>
            </a:r>
          </a:p>
        </p:txBody>
      </p:sp>
      <p:sp>
        <p:nvSpPr>
          <p:cNvPr id="43" name="app-weblate-row-0-dot">
            <a:extLst xmlns:a="http://schemas.openxmlformats.org/drawingml/2006/main">
              <a:ext uri="{FF2B5EF4-FFF2-40B4-BE49-F238E27FC236}">
                <a16:creationId xmlns:a16="http://schemas.microsoft.com/office/drawing/2014/main" id="{F719D2AA-78ED-4E8F-9B94-F09982D5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44" name="app-weblate-row-0-id">
            <a:extLst xmlns:a="http://schemas.openxmlformats.org/drawingml/2006/main">
              <a:ext uri="{FF2B5EF4-FFF2-40B4-BE49-F238E27FC236}">
                <a16:creationId xmlns:a16="http://schemas.microsoft.com/office/drawing/2014/main" id="{99FB801D-AB2A-4548-B5DF-0FCAF1D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CVE-2026-33220</a:t>
            </a:r>
          </a:p>
        </p:txBody>
      </p:sp>
      <p:sp>
        <p:nvSpPr>
          <p:cNvPr id="45" name="app-weblate-row-0-score">
            <a:extLst xmlns:a="http://schemas.openxmlformats.org/drawingml/2006/main">
              <a:ext uri="{FF2B5EF4-FFF2-40B4-BE49-F238E27FC236}">
                <a16:creationId xmlns:a16="http://schemas.microsoft.com/office/drawing/2014/main" id="{3EC8C522-3761-43DD-809A-337EDE77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9567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6.8</a:t>
            </a:r>
          </a:p>
        </p:txBody>
      </p:sp>
      <p:sp>
        <p:nvSpPr>
          <p:cNvPr id="46" name="app-weblate-row-0-desc">
            <a:extLst xmlns:a="http://schemas.openxmlformats.org/drawingml/2006/main">
              <a:ext uri="{FF2B5EF4-FFF2-40B4-BE49-F238E27FC236}">
                <a16:creationId xmlns:a16="http://schemas.microsoft.com/office/drawing/2014/main" id="{52E6C951-70D9-4640-8FD7-567975B5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local file read</a:t>
            </a:r>
          </a:p>
        </p:txBody>
      </p:sp>
      <p:sp>
        <p:nvSpPr>
          <p:cNvPr id="47" name="app-weblate-row-1-dot">
            <a:extLst xmlns:a="http://schemas.openxmlformats.org/drawingml/2006/main">
              <a:ext uri="{FF2B5EF4-FFF2-40B4-BE49-F238E27FC236}">
                <a16:creationId xmlns:a16="http://schemas.microsoft.com/office/drawing/2014/main" id="{CB929098-463E-4F67-B8D8-16E4AE6B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48" name="app-weblate-row-1-id">
            <a:extLst xmlns:a="http://schemas.openxmlformats.org/drawingml/2006/main">
              <a:ext uri="{FF2B5EF4-FFF2-40B4-BE49-F238E27FC236}">
                <a16:creationId xmlns:a16="http://schemas.microsoft.com/office/drawing/2014/main" id="{0E72B355-9A9D-4550-9174-FEFB1ADE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CVE-2026-33440</a:t>
            </a:r>
          </a:p>
        </p:txBody>
      </p:sp>
      <p:sp>
        <p:nvSpPr>
          <p:cNvPr id="49" name="app-weblate-row-1-score">
            <a:extLst xmlns:a="http://schemas.openxmlformats.org/drawingml/2006/main">
              <a:ext uri="{FF2B5EF4-FFF2-40B4-BE49-F238E27FC236}">
                <a16:creationId xmlns:a16="http://schemas.microsoft.com/office/drawing/2014/main" id="{31D40C67-9915-4EFD-B574-A17E52D8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8142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5.0</a:t>
            </a:r>
          </a:p>
        </p:txBody>
      </p:sp>
      <p:sp>
        <p:nvSpPr>
          <p:cNvPr id="50" name="app-weblate-row-1-desc">
            <a:extLst xmlns:a="http://schemas.openxmlformats.org/drawingml/2006/main">
              <a:ext uri="{FF2B5EF4-FFF2-40B4-BE49-F238E27FC236}">
                <a16:creationId xmlns:a16="http://schemas.microsoft.com/office/drawing/2014/main" id="{116325B8-35D0-4EEB-B034-FFC58106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7190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authenticated SSRF</a:t>
            </a:r>
          </a:p>
        </p:txBody>
      </p:sp>
      <p:sp>
        <p:nvSpPr>
          <p:cNvPr id="51" name="app-unified-surface">
            <a:extLst xmlns:a="http://schemas.openxmlformats.org/drawingml/2006/main">
              <a:ext uri="{FF2B5EF4-FFF2-40B4-BE49-F238E27FC236}">
                <a16:creationId xmlns:a16="http://schemas.microsoft.com/office/drawing/2014/main" id="{8F6ABC50-BB97-4F65-A0FC-DD37EAE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53340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52" name="app-unified-count-circle">
            <a:extLst xmlns:a="http://schemas.openxmlformats.org/drawingml/2006/main">
              <a:ext uri="{FF2B5EF4-FFF2-40B4-BE49-F238E27FC236}">
                <a16:creationId xmlns:a16="http://schemas.microsoft.com/office/drawing/2014/main" id="{6BD8C50A-E14B-4EF6-8E05-7BA68ED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53" name="app-unified-count-glyph">
            <a:extLst xmlns:a="http://schemas.openxmlformats.org/drawingml/2006/main">
              <a:ext uri="{FF2B5EF4-FFF2-40B4-BE49-F238E27FC236}">
                <a16:creationId xmlns:a16="http://schemas.microsoft.com/office/drawing/2014/main" id="{9055CE87-5E12-4D9C-AE7C-E2A3B2B7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54" name="app-unified-title">
            <a:extLst xmlns:a="http://schemas.openxmlformats.org/drawingml/2006/main">
              <a:ext uri="{FF2B5EF4-FFF2-40B4-BE49-F238E27FC236}">
                <a16:creationId xmlns:a16="http://schemas.microsoft.com/office/drawing/2014/main" id="{BA62F3B2-1174-4089-B9C4-9143C3F9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14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Unifiedtransform</a:t>
            </a:r>
          </a:p>
        </p:txBody>
      </p:sp>
      <p:sp>
        <p:nvSpPr>
          <p:cNvPr id="55" name="app-unified-row-0-dot">
            <a:extLst xmlns:a="http://schemas.openxmlformats.org/drawingml/2006/main">
              <a:ext uri="{FF2B5EF4-FFF2-40B4-BE49-F238E27FC236}">
                <a16:creationId xmlns:a16="http://schemas.microsoft.com/office/drawing/2014/main" id="{B449DEE9-EBBF-4ADF-B1C0-363ABDCB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56" name="app-unified-row-0-id">
            <a:extLst xmlns:a="http://schemas.openxmlformats.org/drawingml/2006/main">
              <a:ext uri="{FF2B5EF4-FFF2-40B4-BE49-F238E27FC236}">
                <a16:creationId xmlns:a16="http://schemas.microsoft.com/office/drawing/2014/main" id="{62D04210-113E-4A44-9D3E-F935AD91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CVE-2025-46203</a:t>
            </a:r>
          </a:p>
        </p:txBody>
      </p:sp>
      <p:sp>
        <p:nvSpPr>
          <p:cNvPr id="57" name="app-unified-row-0-score">
            <a:extLst xmlns:a="http://schemas.openxmlformats.org/drawingml/2006/main">
              <a:ext uri="{FF2B5EF4-FFF2-40B4-BE49-F238E27FC236}">
                <a16:creationId xmlns:a16="http://schemas.microsoft.com/office/drawing/2014/main" id="{4AC2DED0-6A88-42E9-A079-721EF26B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992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6.5</a:t>
            </a:r>
          </a:p>
        </p:txBody>
      </p:sp>
      <p:sp>
        <p:nvSpPr>
          <p:cNvPr id="58" name="app-unified-row-0-desc">
            <a:extLst xmlns:a="http://schemas.openxmlformats.org/drawingml/2006/main">
              <a:ext uri="{FF2B5EF4-FFF2-40B4-BE49-F238E27FC236}">
                <a16:creationId xmlns:a16="http://schemas.microsoft.com/office/drawing/2014/main" id="{C1C42669-3FFC-423C-B7C3-49B0C384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0040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BAC edit any student</a:t>
            </a:r>
          </a:p>
        </p:txBody>
      </p:sp>
      <p:sp>
        <p:nvSpPr>
          <p:cNvPr id="59" name="app-unified-row-1-dot">
            <a:extLst xmlns:a="http://schemas.openxmlformats.org/drawingml/2006/main">
              <a:ext uri="{FF2B5EF4-FFF2-40B4-BE49-F238E27FC236}">
                <a16:creationId xmlns:a16="http://schemas.microsoft.com/office/drawing/2014/main" id="{DDE32AA2-28A3-49E9-970F-08D9985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60" name="app-unified-row-1-id">
            <a:extLst xmlns:a="http://schemas.openxmlformats.org/drawingml/2006/main">
              <a:ext uri="{FF2B5EF4-FFF2-40B4-BE49-F238E27FC236}">
                <a16:creationId xmlns:a16="http://schemas.microsoft.com/office/drawing/2014/main" id="{0D5981DD-1D87-40E8-81BD-41095E18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CVE-2025-46204</a:t>
            </a:r>
          </a:p>
        </p:txBody>
      </p:sp>
      <p:sp>
        <p:nvSpPr>
          <p:cNvPr id="61" name="app-unified-row-1-score">
            <a:extLst xmlns:a="http://schemas.openxmlformats.org/drawingml/2006/main">
              <a:ext uri="{FF2B5EF4-FFF2-40B4-BE49-F238E27FC236}">
                <a16:creationId xmlns:a16="http://schemas.microsoft.com/office/drawing/2014/main" id="{9C41239E-3042-4179-A3D3-FCAD7AC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9567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6.5</a:t>
            </a:r>
          </a:p>
        </p:txBody>
      </p:sp>
      <p:sp>
        <p:nvSpPr>
          <p:cNvPr id="62" name="app-unified-row-1-desc">
            <a:extLst xmlns:a="http://schemas.openxmlformats.org/drawingml/2006/main">
              <a:ext uri="{FF2B5EF4-FFF2-40B4-BE49-F238E27FC236}">
                <a16:creationId xmlns:a16="http://schemas.microsoft.com/office/drawing/2014/main" id="{CEEB1095-BA5B-4884-A640-D3305E7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BAC edit any course</a:t>
            </a:r>
          </a:p>
        </p:txBody>
      </p:sp>
      <p:sp>
        <p:nvSpPr>
          <p:cNvPr id="63" name="app-statamic-surface">
            <a:extLst xmlns:a="http://schemas.openxmlformats.org/drawingml/2006/main">
              <a:ext uri="{FF2B5EF4-FFF2-40B4-BE49-F238E27FC236}">
                <a16:creationId xmlns:a16="http://schemas.microsoft.com/office/drawing/2014/main" id="{5E1F8B3C-3B90-4485-8071-F456A44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34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64" name="app-statamic-count-circle">
            <a:extLst xmlns:a="http://schemas.openxmlformats.org/drawingml/2006/main">
              <a:ext uri="{FF2B5EF4-FFF2-40B4-BE49-F238E27FC236}">
                <a16:creationId xmlns:a16="http://schemas.microsoft.com/office/drawing/2014/main" id="{61EE21DF-615A-4F75-974F-7B960E4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65" name="app-statamic-count-glyph">
            <a:extLst xmlns:a="http://schemas.openxmlformats.org/drawingml/2006/main">
              <a:ext uri="{FF2B5EF4-FFF2-40B4-BE49-F238E27FC236}">
                <a16:creationId xmlns:a16="http://schemas.microsoft.com/office/drawing/2014/main" id="{C2470051-9D76-4348-A72B-25FC4F9B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6" name="app-statamic-title">
            <a:extLst xmlns:a="http://schemas.openxmlformats.org/drawingml/2006/main">
              <a:ext uri="{FF2B5EF4-FFF2-40B4-BE49-F238E27FC236}">
                <a16:creationId xmlns:a16="http://schemas.microsoft.com/office/drawing/2014/main" id="{2C5E66BF-E0DD-4590-BF0F-D7395EB2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62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Statamic</a:t>
            </a:r>
          </a:p>
        </p:txBody>
      </p:sp>
      <p:sp>
        <p:nvSpPr>
          <p:cNvPr id="67" name="app-statamic-row-0-dot">
            <a:extLst xmlns:a="http://schemas.openxmlformats.org/drawingml/2006/main">
              <a:ext uri="{FF2B5EF4-FFF2-40B4-BE49-F238E27FC236}">
                <a16:creationId xmlns:a16="http://schemas.microsoft.com/office/drawing/2014/main" id="{286F2726-D8DD-4F53-9FC1-F8AE23D3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68" name="app-statamic-row-0-id">
            <a:extLst xmlns:a="http://schemas.openxmlformats.org/drawingml/2006/main">
              <a:ext uri="{FF2B5EF4-FFF2-40B4-BE49-F238E27FC236}">
                <a16:creationId xmlns:a16="http://schemas.microsoft.com/office/drawing/2014/main" id="{AEACB141-7279-4176-B969-6B80BF1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CVE-2026-33171</a:t>
            </a:r>
          </a:p>
        </p:txBody>
      </p:sp>
      <p:sp>
        <p:nvSpPr>
          <p:cNvPr id="69" name="app-statamic-row-0-score">
            <a:extLst xmlns:a="http://schemas.openxmlformats.org/drawingml/2006/main">
              <a:ext uri="{FF2B5EF4-FFF2-40B4-BE49-F238E27FC236}">
                <a16:creationId xmlns:a16="http://schemas.microsoft.com/office/drawing/2014/main" id="{3D7F9C32-6E99-4D96-9054-EA04F71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5772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4.3</a:t>
            </a:r>
          </a:p>
        </p:txBody>
      </p:sp>
      <p:sp>
        <p:nvSpPr>
          <p:cNvPr id="70" name="app-statamic-row-0-desc">
            <a:extLst xmlns:a="http://schemas.openxmlformats.org/drawingml/2006/main">
              <a:ext uri="{FF2B5EF4-FFF2-40B4-BE49-F238E27FC236}">
                <a16:creationId xmlns:a16="http://schemas.microsoft.com/office/drawing/2014/main" id="{8B8D7654-D86D-418F-A403-65705EB1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4820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authenticated LFI</a:t>
            </a:r>
          </a:p>
        </p:txBody>
      </p:sp>
      <p:sp>
        <p:nvSpPr>
          <p:cNvPr id="71" name="app-parse-surface">
            <a:extLst xmlns:a="http://schemas.openxmlformats.org/drawingml/2006/main">
              <a:ext uri="{FF2B5EF4-FFF2-40B4-BE49-F238E27FC236}">
                <a16:creationId xmlns:a16="http://schemas.microsoft.com/office/drawing/2014/main" id="{93B882FD-F0B7-4D59-A504-C754DA8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5334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A3B"/>
            </a:solidFill>
            <a:prstDash val="solid"/>
          </a:ln>
        </p:spPr>
      </p:sp>
      <p:sp>
        <p:nvSpPr>
          <p:cNvPr id="72" name="app-parse-count-circle">
            <a:extLst xmlns:a="http://schemas.openxmlformats.org/drawingml/2006/main">
              <a:ext uri="{FF2B5EF4-FFF2-40B4-BE49-F238E27FC236}">
                <a16:creationId xmlns:a16="http://schemas.microsoft.com/office/drawing/2014/main" id="{0DFDE329-2EF7-4428-B2E7-1E8A1D53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9525">
            <a:solidFill>
              <a:srgbClr val="19D3FF"/>
            </a:solidFill>
            <a:prstDash val="solid"/>
          </a:ln>
        </p:spPr>
      </p:sp>
      <p:sp>
        <p:nvSpPr>
          <p:cNvPr id="73" name="app-parse-count-glyph">
            <a:extLst xmlns:a="http://schemas.openxmlformats.org/drawingml/2006/main">
              <a:ext uri="{FF2B5EF4-FFF2-40B4-BE49-F238E27FC236}">
                <a16:creationId xmlns:a16="http://schemas.microsoft.com/office/drawing/2014/main" id="{42128B23-97C2-4D1B-ABAC-495F5469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8622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defRPr>
            </a:pPr>
            <a:r>
              <a:rPr sz="675" b="1">
                <a:solidFill>
                  <a:srgbClr val="050A14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app-parse-title">
            <a:extLst xmlns:a="http://schemas.openxmlformats.org/drawingml/2006/main">
              <a:ext uri="{FF2B5EF4-FFF2-40B4-BE49-F238E27FC236}">
                <a16:creationId xmlns:a16="http://schemas.microsoft.com/office/drawing/2014/main" id="{D05AEEE0-0638-4A6B-9CBD-8521E781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07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Parse Server</a:t>
            </a:r>
          </a:p>
        </p:txBody>
      </p:sp>
      <p:sp>
        <p:nvSpPr>
          <p:cNvPr id="75" name="app-parse-row-0-dot">
            <a:extLst xmlns:a="http://schemas.openxmlformats.org/drawingml/2006/main">
              <a:ext uri="{FF2B5EF4-FFF2-40B4-BE49-F238E27FC236}">
                <a16:creationId xmlns:a16="http://schemas.microsoft.com/office/drawing/2014/main" id="{05DD8285-BDD6-4BA5-9476-D7F21E75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2A2"/>
          </a:solidFill>
          <a:ln xmlns:a="http://schemas.openxmlformats.org/drawingml/2006/main" w="9525">
            <a:solidFill>
              <a:srgbClr val="8792A2"/>
            </a:solidFill>
            <a:prstDash val="solid"/>
          </a:ln>
        </p:spPr>
      </p:sp>
      <p:sp>
        <p:nvSpPr>
          <p:cNvPr id="76" name="app-parse-row-0-id">
            <a:extLst xmlns:a="http://schemas.openxmlformats.org/drawingml/2006/main">
              <a:ext uri="{FF2B5EF4-FFF2-40B4-BE49-F238E27FC236}">
                <a16:creationId xmlns:a16="http://schemas.microsoft.com/office/drawing/2014/main" id="{4C24EEE4-38D1-48BD-B009-B8D2E21F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840" b="1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CVE-2026-33624</a:t>
            </a:r>
          </a:p>
        </p:txBody>
      </p:sp>
      <p:sp>
        <p:nvSpPr>
          <p:cNvPr id="77" name="app-parse-row-0-score">
            <a:extLst xmlns:a="http://schemas.openxmlformats.org/drawingml/2006/main">
              <a:ext uri="{FF2B5EF4-FFF2-40B4-BE49-F238E27FC236}">
                <a16:creationId xmlns:a16="http://schemas.microsoft.com/office/drawing/2014/main" id="{4698D644-B6F2-4EC0-8DBE-35B35E73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71975"/>
            <a:ext cx="40005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8792A2">
              <a:alpha val="16000"/>
            </a:srgbClr>
          </a:solidFill>
          <a:ln xmlns:a="http://schemas.openxmlformats.org/drawingml/2006/main" w="9525">
            <a:solidFill>
              <a:srgbClr val="8792A2"/>
            </a:solidFill>
            <a:prstDash val="solid"/>
          </a:ln>
        </p:spPr>
        <p:txBody>
          <a:bodyPr xmlns:a="http://schemas.openxmlformats.org/drawingml/2006/main" wrap="non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92A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8792A2"/>
                </a:solidFill>
                <a:latin typeface="Courier New"/>
                <a:ea typeface="Courier New"/>
                <a:cs typeface="Courier New"/>
              </a:rPr>
              <a:t>2.1</a:t>
            </a:r>
          </a:p>
        </p:txBody>
      </p:sp>
      <p:sp>
        <p:nvSpPr>
          <p:cNvPr id="78" name="app-parse-row-0-desc">
            <a:extLst xmlns:a="http://schemas.openxmlformats.org/drawingml/2006/main">
              <a:ext uri="{FF2B5EF4-FFF2-40B4-BE49-F238E27FC236}">
                <a16:creationId xmlns:a16="http://schemas.microsoft.com/office/drawing/2014/main" id="{8749BBEA-73BC-481F-B731-09C6B75A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624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9AA9BC"/>
                </a:solidFill>
                <a:latin typeface="Aptos"/>
                <a:ea typeface="Aptos"/>
                <a:cs typeface="Aptos"/>
              </a:defRPr>
            </a:pPr>
            <a:r>
              <a:rPr sz="855">
                <a:solidFill>
                  <a:srgbClr val="9AA9BC"/>
                </a:solidFill>
                <a:latin typeface="Aptos"/>
                <a:ea typeface="Aptos"/>
                <a:cs typeface="Aptos"/>
              </a:rPr>
              <a:t>MFA recovery bypass (race)</a:t>
            </a:r>
          </a:p>
        </p:txBody>
      </p:sp>
    </p:spTree>
    <p:extLst>
      <p:ext uri="{BB962C8B-B14F-4D97-AF65-F5344CB8AC3E}">
        <p14:creationId xmlns:p14="http://schemas.microsoft.com/office/powerpoint/2010/main" val="1369290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2026-06-19T14:53:05.0260000Z</dcterms:created>
  <dcterms:modified xsi:type="dcterms:W3CDTF">2026-06-19T14:53:05.0260000Z</dcterms:modified>
</coreProperties>
</file>